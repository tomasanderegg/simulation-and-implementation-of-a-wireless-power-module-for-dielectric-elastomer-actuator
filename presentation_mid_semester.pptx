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60" r:id="rId7"/>
    <p:sldId id="261" r:id="rId8"/>
    <p:sldId id="262" r:id="rId9"/>
    <p:sldId id="271" r:id="rId10"/>
    <p:sldId id="274" r:id="rId11"/>
    <p:sldId id="273" r:id="rId12"/>
    <p:sldId id="275" r:id="rId13"/>
    <p:sldId id="276" r:id="rId14"/>
    <p:sldId id="279" r:id="rId15"/>
    <p:sldId id="263" r:id="rId16"/>
    <p:sldId id="277" r:id="rId17"/>
    <p:sldId id="264" r:id="rId18"/>
    <p:sldId id="265" r:id="rId19"/>
    <p:sldId id="266" r:id="rId20"/>
    <p:sldId id="278" r:id="rId21"/>
    <p:sldId id="267" r:id="rId22"/>
    <p:sldId id="269" r:id="rId23"/>
    <p:sldId id="281" r:id="rId24"/>
    <p:sldId id="270" r:id="rId25"/>
    <p:sldId id="282" r:id="rId26"/>
    <p:sldId id="283" r:id="rId27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 autoAdjust="0"/>
    <p:restoredTop sz="93447" autoAdjust="0"/>
  </p:normalViewPr>
  <p:slideViewPr>
    <p:cSldViewPr snapToGrid="0" snapToObjects="1" showGuides="1">
      <p:cViewPr>
        <p:scale>
          <a:sx n="125" d="100"/>
          <a:sy n="125" d="100"/>
        </p:scale>
        <p:origin x="-1556" y="-684"/>
      </p:cViewPr>
      <p:guideLst>
        <p:guide orient="horz" pos="159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50" d="100"/>
          <a:sy n="150" d="100"/>
        </p:scale>
        <p:origin x="60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22.05.2025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>
                <a:latin typeface="Arial" panose="020B0604020202020204" pitchFamily="34" charset="0"/>
              </a:rPr>
              <a:t>*: Mohan, S. S., Hershenson, M. del M., Boyd, S. P., &amp; Lee, T. H. (1999). Simple Accurate Expressions for Planar Spiral Inductances. IEEE Journal of Solid-State Circuits, 34(10), 1419-1424.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22/05/2025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7B74-48BB-91D5-A7F3-45FEB17367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448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735E0-6363-F973-B4CF-50FDEA2E82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2618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0308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405BA-3F9C-5B1B-B5B0-64495205C0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187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D258-E53A-EFD6-656A-0D2004FB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6F114-6D10-2730-24ED-E791F4539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C57A7-D9D3-06E6-12FE-6A2199050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773FA-50CD-B03C-F422-7A8248E32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0897-2F4E-02F2-4B5F-57A0B3C3D6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929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9415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*: Mohan, S. S., Hershenson, M. del M., Boyd, S. P., &amp; Lee, T. H. (1999). Simple Accurate Expressions for Planar Spiral Inductances. IEEE Journal of Solid-State Circuits, 34(10), 1419-1424.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DA20B7E2-B5CA-2647-8DAF-0E9B77AF6E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777875"/>
            <a:ext cx="3657601" cy="2347047"/>
          </a:xfrm>
        </p:spPr>
        <p:txBody>
          <a:bodyPr>
            <a:noAutofit/>
          </a:bodyPr>
          <a:lstStyle/>
          <a:p>
            <a:r>
              <a:rPr lang="fr-FR" sz="2000" dirty="0"/>
              <a:t>Simulation and </a:t>
            </a:r>
            <a:r>
              <a:rPr lang="fr-FR" sz="2000" dirty="0" err="1"/>
              <a:t>implementation</a:t>
            </a:r>
            <a:r>
              <a:rPr lang="fr-FR" sz="2000" dirty="0"/>
              <a:t> of a Wireless Power Module for </a:t>
            </a:r>
            <a:r>
              <a:rPr lang="fr-FR" sz="2000" dirty="0" err="1"/>
              <a:t>dielectric</a:t>
            </a:r>
            <a:r>
              <a:rPr lang="fr-FR" sz="2000" dirty="0"/>
              <a:t> </a:t>
            </a:r>
            <a:r>
              <a:rPr lang="fr-FR" sz="2000" dirty="0" err="1"/>
              <a:t>elastomer</a:t>
            </a:r>
            <a:r>
              <a:rPr lang="fr-FR" sz="2000" dirty="0"/>
              <a:t> </a:t>
            </a:r>
            <a:r>
              <a:rPr lang="fr-FR" sz="2000" dirty="0" err="1"/>
              <a:t>actuator</a:t>
            </a:r>
            <a:endParaRPr lang="fr-FR" sz="200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34F3CA74-E434-844A-9C90-0FE7EB8DBF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By Tomas Garate Anderegg</a:t>
            </a:r>
          </a:p>
          <a:p>
            <a:r>
              <a:rPr lang="fr-FR" dirty="0" err="1"/>
              <a:t>Supervised</a:t>
            </a:r>
            <a:r>
              <a:rPr lang="fr-FR" dirty="0"/>
              <a:t> by </a:t>
            </a:r>
            <a:r>
              <a:rPr lang="fr-FR" dirty="0" err="1"/>
              <a:t>Maribel</a:t>
            </a:r>
            <a:r>
              <a:rPr lang="fr-FR" dirty="0"/>
              <a:t> Caceres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3BCA55-E2C0-5C4E-89C0-5D85ED2FB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8A3154D-FCB0-A34B-BBBC-167C625558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52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F21C7-56BC-A74B-BA53-D2D4021D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451" y="1674812"/>
            <a:ext cx="4058920" cy="1793875"/>
          </a:xfrm>
        </p:spPr>
        <p:txBody>
          <a:bodyPr/>
          <a:lstStyle/>
          <a:p>
            <a:r>
              <a:rPr lang="fr-FR" dirty="0"/>
              <a:t>Table of Contents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E3DCC4-356B-A340-9BF5-39AD9E375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220F4E5E-C94C-9043-9393-94FDC6176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424" y="1550080"/>
            <a:ext cx="3530947" cy="1918607"/>
          </a:xfrm>
        </p:spPr>
        <p:txBody>
          <a:bodyPr>
            <a:normAutofit lnSpcReduction="10000"/>
          </a:bodyPr>
          <a:lstStyle/>
          <a:p>
            <a:r>
              <a:rPr lang="fr-CH" dirty="0"/>
              <a:t>Objectives</a:t>
            </a:r>
          </a:p>
          <a:p>
            <a:r>
              <a:rPr lang="fr-CH" dirty="0"/>
              <a:t>State of the Art</a:t>
            </a:r>
          </a:p>
          <a:p>
            <a:r>
              <a:rPr lang="fr-CH" dirty="0" err="1"/>
              <a:t>Approach</a:t>
            </a:r>
            <a:r>
              <a:rPr lang="fr-CH" dirty="0"/>
              <a:t> </a:t>
            </a:r>
            <a:r>
              <a:rPr lang="fr-CH" dirty="0" err="1"/>
              <a:t>Taken</a:t>
            </a:r>
            <a:endParaRPr lang="fr-CH" dirty="0"/>
          </a:p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endParaRPr lang="fr-CH" dirty="0"/>
          </a:p>
          <a:p>
            <a:r>
              <a:rPr lang="fr-CH" dirty="0" err="1"/>
              <a:t>Results</a:t>
            </a:r>
            <a:endParaRPr lang="fr-CH" dirty="0"/>
          </a:p>
          <a:p>
            <a:r>
              <a:rPr lang="fr-CH" dirty="0"/>
              <a:t>Conclusion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80124D-0355-C54B-9126-82BC6AB6B3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9178B4-D530-1544-B47E-4E68F08892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253E77-58BB-5342-B218-CB0FEF98A9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907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Objectives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AD287-D36E-824B-97DA-B5B92B42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10" name="Picture 9" descr="A diagram of a human body&#10;&#10;AI-generated content may be incorrect.">
            <a:extLst>
              <a:ext uri="{FF2B5EF4-FFF2-40B4-BE49-F238E27FC236}">
                <a16:creationId xmlns:a16="http://schemas.microsoft.com/office/drawing/2014/main" id="{AE27154F-0900-58DA-B9E9-9D76DBDEB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50" r="6980"/>
          <a:stretch/>
        </p:blipFill>
        <p:spPr>
          <a:xfrm>
            <a:off x="983564" y="1297009"/>
            <a:ext cx="7795157" cy="25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9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E3D9599-6AD0-A54B-A8DB-E5D44637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State of the Art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776DD9-9966-334C-AB8C-86A7550DDD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2CC2CF-A9E4-D54C-A3BC-4BEE6B21B7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24376F-AEFF-1D40-AB92-99A91B91E1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</a:t>
            </a:fld>
            <a:endParaRPr lang="fr-FR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4F52251-8145-29D2-BE71-4F6F7C00F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75887"/>
              </p:ext>
            </p:extLst>
          </p:nvPr>
        </p:nvGraphicFramePr>
        <p:xfrm>
          <a:off x="904875" y="618034"/>
          <a:ext cx="7726362" cy="443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5454">
                  <a:extLst>
                    <a:ext uri="{9D8B030D-6E8A-4147-A177-3AD203B41FA5}">
                      <a16:colId xmlns:a16="http://schemas.microsoft.com/office/drawing/2014/main" val="3379240320"/>
                    </a:ext>
                  </a:extLst>
                </a:gridCol>
                <a:gridCol w="2575454">
                  <a:extLst>
                    <a:ext uri="{9D8B030D-6E8A-4147-A177-3AD203B41FA5}">
                      <a16:colId xmlns:a16="http://schemas.microsoft.com/office/drawing/2014/main" val="1136526943"/>
                    </a:ext>
                  </a:extLst>
                </a:gridCol>
                <a:gridCol w="2575454">
                  <a:extLst>
                    <a:ext uri="{9D8B030D-6E8A-4147-A177-3AD203B41FA5}">
                      <a16:colId xmlns:a16="http://schemas.microsoft.com/office/drawing/2014/main" val="223062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CH" sz="1200" b="1" dirty="0"/>
                        <a:t>Good candidates for WPT</a:t>
                      </a:r>
                    </a:p>
                    <a:p>
                      <a:pPr algn="ctr"/>
                      <a:r>
                        <a:rPr lang="fr-CH" sz="1200" b="1" dirty="0"/>
                        <a:t>techniques</a:t>
                      </a:r>
                    </a:p>
                    <a:p>
                      <a:endParaRPr lang="fr-CH" dirty="0"/>
                    </a:p>
                  </a:txBody>
                  <a:tcPr marT="18000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1" dirty="0"/>
                        <a:t>Pros</a:t>
                      </a:r>
                      <a:endParaRPr lang="fr-CH" b="1" dirty="0"/>
                    </a:p>
                    <a:p>
                      <a:endParaRPr lang="fr-CH" dirty="0"/>
                    </a:p>
                  </a:txBody>
                  <a:tcPr marT="252000" marB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1" dirty="0"/>
                        <a:t>Cons</a:t>
                      </a:r>
                      <a:endParaRPr lang="fr-CH" b="1" dirty="0"/>
                    </a:p>
                    <a:p>
                      <a:endParaRPr lang="fr-CH" dirty="0"/>
                    </a:p>
                  </a:txBody>
                  <a:tcPr marT="252000" marB="0"/>
                </a:tc>
                <a:extLst>
                  <a:ext uri="{0D108BD9-81ED-4DB2-BD59-A6C34878D82A}">
                    <a16:rowId xmlns:a16="http://schemas.microsoft.com/office/drawing/2014/main" val="2263547422"/>
                  </a:ext>
                </a:extLst>
              </a:tr>
              <a:tr h="104389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/>
                        <a:t>Inductive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 err="1"/>
                        <a:t>Coupling</a:t>
                      </a:r>
                      <a:endParaRPr lang="fr-CH" b="1" dirty="0"/>
                    </a:p>
                    <a:p>
                      <a:endParaRPr lang="fr-CH" dirty="0"/>
                    </a:p>
                  </a:txBody>
                  <a:tcPr marT="180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dirty="0"/>
                        <a:t>-</a:t>
                      </a:r>
                      <a:r>
                        <a:rPr lang="fr-CH" sz="1100" dirty="0"/>
                        <a:t>Power transfert </a:t>
                      </a:r>
                      <a:r>
                        <a:rPr lang="fr-CH" sz="1100" dirty="0" err="1"/>
                        <a:t>efficiency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depends</a:t>
                      </a:r>
                      <a:r>
                        <a:rPr lang="fr-CH" sz="1100" dirty="0"/>
                        <a:t> on </a:t>
                      </a:r>
                      <a:r>
                        <a:rPr lang="fr-CH" sz="1100" dirty="0" err="1"/>
                        <a:t>quality</a:t>
                      </a:r>
                      <a:r>
                        <a:rPr lang="fr-CH" sz="1100" dirty="0"/>
                        <a:t> factor, good </a:t>
                      </a:r>
                      <a:r>
                        <a:rPr lang="fr-CH" sz="1100" dirty="0" err="1"/>
                        <a:t>matching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impedance</a:t>
                      </a:r>
                      <a:r>
                        <a:rPr lang="fr-CH" sz="1100" dirty="0"/>
                        <a:t> and optimal </a:t>
                      </a:r>
                      <a:r>
                        <a:rPr lang="fr-CH" sz="1100" dirty="0" err="1"/>
                        <a:t>load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impedance</a:t>
                      </a:r>
                      <a:endParaRPr lang="fr-CH" sz="14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dirty="0"/>
                        <a:t>-</a:t>
                      </a:r>
                      <a:r>
                        <a:rPr lang="fr-CH" sz="1100" dirty="0"/>
                        <a:t>100 kHz – 10 MHz for </a:t>
                      </a:r>
                      <a:r>
                        <a:rPr lang="fr-CH" sz="1100" dirty="0" err="1"/>
                        <a:t>safety</a:t>
                      </a:r>
                      <a:r>
                        <a:rPr lang="fr-CH" sz="1100" dirty="0"/>
                        <a:t> and good PTE</a:t>
                      </a:r>
                      <a:endParaRPr lang="fr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200" dirty="0"/>
                        <a:t>-</a:t>
                      </a:r>
                      <a:r>
                        <a:rPr lang="fr-CH" sz="1100" dirty="0"/>
                        <a:t>Sensitive to </a:t>
                      </a:r>
                      <a:r>
                        <a:rPr lang="fr-CH" sz="1100" dirty="0" err="1"/>
                        <a:t>misalignment</a:t>
                      </a:r>
                      <a:endParaRPr lang="fr-CH" sz="11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200" dirty="0"/>
                        <a:t>-</a:t>
                      </a:r>
                      <a:r>
                        <a:rPr lang="fr-CH" sz="1100" dirty="0" err="1"/>
                        <a:t>Misalignment</a:t>
                      </a:r>
                      <a:r>
                        <a:rPr lang="fr-CH" sz="1100" dirty="0"/>
                        <a:t> can </a:t>
                      </a:r>
                      <a:r>
                        <a:rPr lang="fr-CH" sz="1100" dirty="0" err="1"/>
                        <a:t>reduce</a:t>
                      </a:r>
                      <a:r>
                        <a:rPr lang="fr-CH" sz="1100" dirty="0"/>
                        <a:t> the PTE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200" dirty="0"/>
                        <a:t>-</a:t>
                      </a:r>
                      <a:r>
                        <a:rPr lang="fr-CH" sz="1100" dirty="0"/>
                        <a:t>3D </a:t>
                      </a:r>
                      <a:r>
                        <a:rPr lang="fr-CH" sz="1100" dirty="0" err="1"/>
                        <a:t>coils</a:t>
                      </a:r>
                      <a:r>
                        <a:rPr lang="fr-CH" sz="1100" dirty="0"/>
                        <a:t> structure can </a:t>
                      </a:r>
                      <a:r>
                        <a:rPr lang="fr-CH" sz="1100" dirty="0" err="1"/>
                        <a:t>improved</a:t>
                      </a:r>
                      <a:r>
                        <a:rPr lang="fr-CH" sz="1100" dirty="0"/>
                        <a:t> the </a:t>
                      </a:r>
                      <a:r>
                        <a:rPr lang="fr-CH" sz="1100" dirty="0" err="1"/>
                        <a:t>misalignment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problem</a:t>
                      </a:r>
                      <a:r>
                        <a:rPr lang="fr-CH" sz="1100" dirty="0"/>
                        <a:t> but complexe solution</a:t>
                      </a:r>
                    </a:p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385027"/>
                  </a:ext>
                </a:extLst>
              </a:tr>
              <a:tr h="104389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/>
                        <a:t>Multiple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/>
                        <a:t>Inductive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 err="1"/>
                        <a:t>Coupling</a:t>
                      </a:r>
                      <a:endParaRPr lang="fr-CH" b="1" dirty="0"/>
                    </a:p>
                    <a:p>
                      <a:endParaRPr lang="fr-CH" dirty="0"/>
                    </a:p>
                  </a:txBody>
                  <a:tcPr marT="180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100" dirty="0"/>
                        <a:t>-</a:t>
                      </a:r>
                      <a:r>
                        <a:rPr lang="fr-CH" sz="1100" dirty="0" err="1"/>
                        <a:t>Different</a:t>
                      </a:r>
                      <a:r>
                        <a:rPr lang="fr-CH" sz="1100" dirty="0"/>
                        <a:t> type of </a:t>
                      </a:r>
                      <a:r>
                        <a:rPr lang="fr-CH" sz="1100" dirty="0" err="1"/>
                        <a:t>coil</a:t>
                      </a:r>
                      <a:r>
                        <a:rPr lang="fr-CH" sz="1100" dirty="0"/>
                        <a:t> architecture can lead to good PTE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100" dirty="0"/>
                    </a:p>
                    <a:p>
                      <a:r>
                        <a:rPr lang="fr-CH" dirty="0"/>
                        <a:t>-</a:t>
                      </a:r>
                      <a:r>
                        <a:rPr lang="fr-CH" sz="1100" dirty="0"/>
                        <a:t>Can have </a:t>
                      </a:r>
                      <a:r>
                        <a:rPr lang="fr-CH" sz="1100" dirty="0" err="1"/>
                        <a:t>better</a:t>
                      </a:r>
                      <a:r>
                        <a:rPr lang="fr-CH" sz="1100" dirty="0"/>
                        <a:t> performance </a:t>
                      </a:r>
                      <a:r>
                        <a:rPr lang="fr-CH" sz="1100" dirty="0" err="1"/>
                        <a:t>than</a:t>
                      </a:r>
                      <a:r>
                        <a:rPr lang="fr-CH" sz="1100" dirty="0"/>
                        <a:t> NRIC </a:t>
                      </a:r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200" dirty="0"/>
                        <a:t>-</a:t>
                      </a:r>
                      <a:r>
                        <a:rPr lang="fr-CH" sz="1100" dirty="0" err="1"/>
                        <a:t>Higher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complexity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than</a:t>
                      </a:r>
                      <a:r>
                        <a:rPr lang="fr-CH" sz="1100" dirty="0"/>
                        <a:t> NRIC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dirty="0"/>
                        <a:t>-</a:t>
                      </a:r>
                      <a:r>
                        <a:rPr lang="fr-CH" sz="1100" dirty="0" err="1"/>
                        <a:t>Effect</a:t>
                      </a:r>
                      <a:r>
                        <a:rPr lang="fr-CH" sz="1100" dirty="0"/>
                        <a:t> of </a:t>
                      </a:r>
                      <a:r>
                        <a:rPr lang="fr-CH" sz="1100" dirty="0" err="1"/>
                        <a:t>misalignment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is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worse</a:t>
                      </a:r>
                      <a:r>
                        <a:rPr lang="fr-CH" sz="1100" dirty="0"/>
                        <a:t> on the PTE </a:t>
                      </a:r>
                      <a:r>
                        <a:rPr lang="fr-CH" sz="1100" dirty="0" err="1"/>
                        <a:t>compared</a:t>
                      </a:r>
                      <a:r>
                        <a:rPr lang="fr-CH" sz="1100" dirty="0"/>
                        <a:t> to NRIC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dirty="0"/>
                        <a:t>-</a:t>
                      </a:r>
                      <a:r>
                        <a:rPr lang="fr-CH" sz="1100" dirty="0" err="1"/>
                        <a:t>Higher</a:t>
                      </a:r>
                      <a:r>
                        <a:rPr lang="fr-CH" sz="1100" dirty="0"/>
                        <a:t> operating </a:t>
                      </a:r>
                      <a:r>
                        <a:rPr lang="fr-CH" sz="1100" dirty="0" err="1"/>
                        <a:t>frequency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than</a:t>
                      </a:r>
                      <a:r>
                        <a:rPr lang="fr-CH" sz="1100" dirty="0"/>
                        <a:t> NRIC </a:t>
                      </a:r>
                      <a:r>
                        <a:rPr lang="fr-CH" sz="1100" dirty="0" err="1"/>
                        <a:t>leading</a:t>
                      </a:r>
                      <a:r>
                        <a:rPr lang="fr-CH" sz="1100" dirty="0"/>
                        <a:t> to </a:t>
                      </a:r>
                      <a:r>
                        <a:rPr lang="fr-CH" sz="1100" dirty="0" err="1"/>
                        <a:t>potential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biosafety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problems</a:t>
                      </a:r>
                      <a:endParaRPr lang="fr-CH" sz="1200" dirty="0"/>
                    </a:p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760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b="1" dirty="0" err="1"/>
                        <a:t>Acoustic</a:t>
                      </a:r>
                      <a:endParaRPr lang="fr-CH" sz="1050" b="1" dirty="0"/>
                    </a:p>
                    <a:p>
                      <a:endParaRPr lang="fr-CH" dirty="0"/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-</a:t>
                      </a:r>
                      <a:r>
                        <a:rPr lang="fr-CH" sz="1100" dirty="0"/>
                        <a:t>Good PTE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-</a:t>
                      </a:r>
                      <a:r>
                        <a:rPr lang="fr-CH" sz="1100" dirty="0"/>
                        <a:t>Good </a:t>
                      </a:r>
                      <a:r>
                        <a:rPr lang="fr-CH" sz="1100" dirty="0" err="1"/>
                        <a:t>frequency</a:t>
                      </a:r>
                      <a:r>
                        <a:rPr lang="fr-CH" sz="1100" dirty="0"/>
                        <a:t> range for </a:t>
                      </a:r>
                      <a:r>
                        <a:rPr lang="fr-CH" sz="1100" dirty="0" err="1"/>
                        <a:t>biosafety</a:t>
                      </a:r>
                      <a:endParaRPr lang="fr-CH" sz="1100" dirty="0"/>
                    </a:p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-</a:t>
                      </a:r>
                      <a:r>
                        <a:rPr lang="fr-CH" sz="1100" dirty="0"/>
                        <a:t>Under-</a:t>
                      </a:r>
                      <a:r>
                        <a:rPr lang="fr-CH" sz="1100" dirty="0" err="1"/>
                        <a:t>studied</a:t>
                      </a:r>
                      <a:r>
                        <a:rPr lang="fr-CH" sz="1100" dirty="0"/>
                        <a:t> </a:t>
                      </a:r>
                      <a:r>
                        <a:rPr lang="fr-CH" sz="1100" dirty="0" err="1"/>
                        <a:t>effect</a:t>
                      </a:r>
                      <a:r>
                        <a:rPr lang="fr-CH" sz="1100" dirty="0"/>
                        <a:t> on the body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-</a:t>
                      </a:r>
                      <a:r>
                        <a:rPr lang="fr-CH" sz="1100" dirty="0" err="1"/>
                        <a:t>Difficult</a:t>
                      </a:r>
                      <a:r>
                        <a:rPr lang="fr-CH" sz="1100" dirty="0"/>
                        <a:t> to design</a:t>
                      </a:r>
                      <a:endParaRPr lang="fr-CH" sz="12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-</a:t>
                      </a:r>
                      <a:r>
                        <a:rPr lang="fr-CH" sz="1100" dirty="0"/>
                        <a:t>PTE sensitive to the distance </a:t>
                      </a:r>
                      <a:r>
                        <a:rPr lang="fr-CH" sz="1100" dirty="0" err="1"/>
                        <a:t>between</a:t>
                      </a:r>
                      <a:r>
                        <a:rPr lang="fr-CH" sz="1100" dirty="0"/>
                        <a:t> TX and RX</a:t>
                      </a:r>
                    </a:p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508310"/>
                  </a:ext>
                </a:extLst>
              </a:tr>
            </a:tbl>
          </a:graphicData>
        </a:graphic>
      </p:graphicFrame>
      <p:pic>
        <p:nvPicPr>
          <p:cNvPr id="22" name="Picture 21" descr="A diagram of a tissue&#10;&#10;AI-generated content may be incorrect.">
            <a:extLst>
              <a:ext uri="{FF2B5EF4-FFF2-40B4-BE49-F238E27FC236}">
                <a16:creationId xmlns:a16="http://schemas.microsoft.com/office/drawing/2014/main" id="{2A49F619-AD87-CEB4-5C7F-093AC31FD9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200" y="1444893"/>
            <a:ext cx="828000" cy="979882"/>
          </a:xfrm>
          <a:prstGeom prst="rect">
            <a:avLst/>
          </a:prstGeom>
        </p:spPr>
      </p:pic>
      <p:pic>
        <p:nvPicPr>
          <p:cNvPr id="23" name="Picture 22" descr="A diagram of a skin implant&#10;&#10;AI-generated content may be incorrect.">
            <a:extLst>
              <a:ext uri="{FF2B5EF4-FFF2-40B4-BE49-F238E27FC236}">
                <a16:creationId xmlns:a16="http://schemas.microsoft.com/office/drawing/2014/main" id="{0651EBFE-7D27-0AD3-190E-5AB06677CFA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485" y="2766376"/>
            <a:ext cx="828001" cy="1033781"/>
          </a:xfrm>
          <a:prstGeom prst="rect">
            <a:avLst/>
          </a:prstGeom>
        </p:spPr>
      </p:pic>
      <p:pic>
        <p:nvPicPr>
          <p:cNvPr id="25" name="Picture 24" descr="Diagram of a transducer&#10;&#10;AI-generated content may be incorrect.">
            <a:extLst>
              <a:ext uri="{FF2B5EF4-FFF2-40B4-BE49-F238E27FC236}">
                <a16:creationId xmlns:a16="http://schemas.microsoft.com/office/drawing/2014/main" id="{C93E8608-B489-0F56-4E97-FAD2B78B132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7" r="10492"/>
          <a:stretch/>
        </p:blipFill>
        <p:spPr>
          <a:xfrm>
            <a:off x="2193036" y="4041265"/>
            <a:ext cx="939476" cy="96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4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62D6DE63-D5D6-8447-97B9-784B12164D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788834"/>
            <a:ext cx="3527015" cy="2336800"/>
          </a:xfrm>
        </p:spPr>
        <p:txBody>
          <a:bodyPr/>
          <a:lstStyle/>
          <a:p>
            <a:r>
              <a:rPr lang="fr-CH" dirty="0"/>
              <a:t>Inductive </a:t>
            </a:r>
            <a:r>
              <a:rPr lang="fr-CH" dirty="0" err="1"/>
              <a:t>coupling</a:t>
            </a:r>
            <a:r>
              <a:rPr lang="fr-CH" dirty="0"/>
              <a:t> </a:t>
            </a:r>
            <a:r>
              <a:rPr lang="fr-CH" dirty="0" err="1"/>
              <a:t>firstly</a:t>
            </a:r>
            <a:endParaRPr lang="fr-CH" dirty="0"/>
          </a:p>
          <a:p>
            <a:r>
              <a:rPr lang="fr-CH" dirty="0"/>
              <a:t>Multiple inductive </a:t>
            </a:r>
            <a:r>
              <a:rPr lang="fr-CH" dirty="0" err="1"/>
              <a:t>coupling</a:t>
            </a:r>
            <a:r>
              <a:rPr lang="fr-CH" dirty="0"/>
              <a:t> </a:t>
            </a:r>
            <a:r>
              <a:rPr lang="fr-CH" dirty="0" err="1"/>
              <a:t>secondly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93B10A-ED1A-8846-97E5-AD42E8205C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F8F98-392F-EF4F-9223-2F5272E090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FECB62-E718-184B-8A74-3DEFF72656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38D484B-818F-2D49-8CFB-08CC9BC8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Approach</a:t>
            </a:r>
            <a:r>
              <a:rPr lang="fr-FR" dirty="0"/>
              <a:t> </a:t>
            </a:r>
            <a:r>
              <a:rPr lang="fr-FR" dirty="0" err="1"/>
              <a:t>Taken</a:t>
            </a:r>
            <a:endParaRPr lang="fr-FR" dirty="0"/>
          </a:p>
        </p:txBody>
      </p:sp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43A820DE-996B-29E6-BFF5-5F83C6D74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86" y="1978639"/>
            <a:ext cx="8177778" cy="2304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8A4240-D58D-EC2F-F584-5EF7A8EAC79E}"/>
              </a:ext>
            </a:extLst>
          </p:cNvPr>
          <p:cNvSpPr/>
          <p:nvPr/>
        </p:nvSpPr>
        <p:spPr>
          <a:xfrm>
            <a:off x="7033087" y="1957234"/>
            <a:ext cx="1755058" cy="1493665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E6EA0-38A0-62EA-20DB-DA79E448EC56}"/>
              </a:ext>
            </a:extLst>
          </p:cNvPr>
          <p:cNvSpPr txBox="1"/>
          <p:nvPr/>
        </p:nvSpPr>
        <p:spPr>
          <a:xfrm>
            <a:off x="7605444" y="1630744"/>
            <a:ext cx="61034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 err="1">
                <a:solidFill>
                  <a:srgbClr val="C00000"/>
                </a:solidFill>
              </a:rPr>
              <a:t>Load</a:t>
            </a:r>
            <a:endParaRPr lang="fr-CH" b="1" dirty="0">
              <a:solidFill>
                <a:srgbClr val="C0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E1E63B-9570-9BB5-9EF0-BB481A413E48}"/>
              </a:ext>
            </a:extLst>
          </p:cNvPr>
          <p:cNvSpPr/>
          <p:nvPr/>
        </p:nvSpPr>
        <p:spPr>
          <a:xfrm>
            <a:off x="3598607" y="1957235"/>
            <a:ext cx="3082413" cy="1493664"/>
          </a:xfrm>
          <a:prstGeom prst="roundRect">
            <a:avLst/>
          </a:prstGeom>
          <a:noFill/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CA9C7-6A09-9985-1FEB-636370AA155E}"/>
              </a:ext>
            </a:extLst>
          </p:cNvPr>
          <p:cNvSpPr txBox="1"/>
          <p:nvPr/>
        </p:nvSpPr>
        <p:spPr>
          <a:xfrm>
            <a:off x="4536051" y="1449403"/>
            <a:ext cx="120752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b="1" dirty="0">
                <a:solidFill>
                  <a:srgbClr val="92D050"/>
                </a:solidFill>
              </a:rPr>
              <a:t>Matching </a:t>
            </a:r>
            <a:r>
              <a:rPr lang="fr-CH" b="1" dirty="0" err="1">
                <a:solidFill>
                  <a:srgbClr val="92D050"/>
                </a:solidFill>
              </a:rPr>
              <a:t>Impedance</a:t>
            </a:r>
            <a:endParaRPr lang="fr-CH" b="1" dirty="0">
              <a:solidFill>
                <a:srgbClr val="92D050"/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42CD46B0-7B6A-0A8D-D0AD-16E290978115}"/>
              </a:ext>
            </a:extLst>
          </p:cNvPr>
          <p:cNvSpPr/>
          <p:nvPr/>
        </p:nvSpPr>
        <p:spPr>
          <a:xfrm rot="18941529">
            <a:off x="4479075" y="2291749"/>
            <a:ext cx="1233757" cy="1240415"/>
          </a:xfrm>
          <a:prstGeom prst="arc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6FB24E-B298-2C3A-98E4-0BDC83C76598}"/>
              </a:ext>
            </a:extLst>
          </p:cNvPr>
          <p:cNvCxnSpPr>
            <a:stCxn id="25" idx="0"/>
          </p:cNvCxnSpPr>
          <p:nvPr/>
        </p:nvCxnSpPr>
        <p:spPr>
          <a:xfrm flipH="1">
            <a:off x="4619625" y="2468138"/>
            <a:ext cx="43105" cy="3455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B435D9-045C-F7A0-788A-D0739C0ED2BF}"/>
              </a:ext>
            </a:extLst>
          </p:cNvPr>
          <p:cNvCxnSpPr>
            <a:cxnSpLocks/>
          </p:cNvCxnSpPr>
          <p:nvPr/>
        </p:nvCxnSpPr>
        <p:spPr>
          <a:xfrm>
            <a:off x="5508259" y="2458613"/>
            <a:ext cx="66433" cy="5360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D7520A6-D1B8-042A-760B-C8F75B8D4A6D}"/>
              </a:ext>
            </a:extLst>
          </p:cNvPr>
          <p:cNvSpPr txBox="1"/>
          <p:nvPr/>
        </p:nvSpPr>
        <p:spPr>
          <a:xfrm>
            <a:off x="4907633" y="2013334"/>
            <a:ext cx="45567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b="1" dirty="0">
                <a:solidFill>
                  <a:schemeClr val="accent5">
                    <a:lumMod val="75000"/>
                  </a:schemeClr>
                </a:solidFill>
              </a:rPr>
              <a:t>M</a:t>
            </a:r>
            <a:r>
              <a:rPr lang="fr-CH" b="1" baseline="-25000" dirty="0">
                <a:solidFill>
                  <a:schemeClr val="accent5">
                    <a:lumMod val="75000"/>
                  </a:schemeClr>
                </a:solidFill>
              </a:rPr>
              <a:t>12</a:t>
            </a:r>
            <a:endParaRPr lang="fr-CH" baseline="-250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0255A6-8082-23FF-1A6A-8A456C3988B9}"/>
                  </a:ext>
                </a:extLst>
              </p:cNvPr>
              <p:cNvSpPr txBox="1"/>
              <p:nvPr/>
            </p:nvSpPr>
            <p:spPr>
              <a:xfrm>
                <a:off x="1045029" y="4282639"/>
                <a:ext cx="1951264" cy="539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𝑝𝑎𝑟𝑎𝑠𝑖𝑡𝑖𝑐</m:t>
                        </m:r>
                      </m:sub>
                    </m:sSub>
                  </m:oMath>
                </a14:m>
                <a:r>
                  <a:rPr lang="fr-CH" dirty="0"/>
                  <a:t> = 5 pF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𝑝𝑎𝑟𝑎𝑠𝑖𝑡𝑖𝑐</m:t>
                        </m:r>
                      </m:sub>
                    </m:sSub>
                  </m:oMath>
                </a14:m>
                <a:r>
                  <a:rPr lang="fr-CH" dirty="0"/>
                  <a:t>= 1 </a:t>
                </a:r>
                <a:r>
                  <a:rPr lang="el-GR" dirty="0"/>
                  <a:t>Ω</a:t>
                </a:r>
                <a:endParaRPr lang="fr-CH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0255A6-8082-23FF-1A6A-8A456C398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4282639"/>
                <a:ext cx="1951264" cy="539763"/>
              </a:xfrm>
              <a:prstGeom prst="rect">
                <a:avLst/>
              </a:prstGeom>
              <a:blipFill>
                <a:blip r:embed="rId3"/>
                <a:stretch>
                  <a:fillRect t="-2273" b="-7955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09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816C-B0D9-A579-A8AA-7F3FD5FE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E7FBFFBE-94FE-A5CB-FD3D-F9D44AC3E0B5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>
              <a:xfrm>
                <a:off x="904874" y="788833"/>
                <a:ext cx="7191991" cy="389429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CH" dirty="0"/>
                  <a:t>Understanding the basics and relation of the inductive </a:t>
                </a:r>
                <a:r>
                  <a:rPr lang="fr-CH" dirty="0" err="1"/>
                  <a:t>coupling</a:t>
                </a:r>
                <a:r>
                  <a:rPr lang="fr-CH" dirty="0"/>
                  <a:t> </a:t>
                </a:r>
                <a:r>
                  <a:rPr lang="fr-CH" dirty="0" err="1"/>
                  <a:t>theory</a:t>
                </a:r>
                <a:endParaRPr lang="fr-CH" dirty="0"/>
              </a:p>
              <a:p>
                <a:r>
                  <a:rPr lang="fr-CH" dirty="0" err="1"/>
                  <a:t>Different</a:t>
                </a:r>
                <a:r>
                  <a:rPr lang="fr-CH" dirty="0"/>
                  <a:t> limitations in the </a:t>
                </a:r>
                <a:r>
                  <a:rPr lang="fr-CH" dirty="0" err="1"/>
                  <a:t>coil</a:t>
                </a:r>
                <a:r>
                  <a:rPr lang="fr-CH" dirty="0"/>
                  <a:t> design</a:t>
                </a:r>
              </a:p>
              <a:p>
                <a:pPr lvl="1"/>
                <a:r>
                  <a:rPr lang="fr-CH" dirty="0"/>
                  <a:t>Size limitations: [3, 10] cm</a:t>
                </a:r>
              </a:p>
              <a:p>
                <a:pPr lvl="1"/>
                <a:r>
                  <a:rPr lang="fr-CH" dirty="0"/>
                  <a:t>High Power transmission VS </a:t>
                </a:r>
                <a:r>
                  <a:rPr lang="fr-CH" dirty="0" err="1"/>
                  <a:t>losses</a:t>
                </a:r>
                <a:endParaRPr lang="fr-CH" dirty="0"/>
              </a:p>
              <a:p>
                <a:pPr lvl="1"/>
                <a:endParaRPr lang="fr-CH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𝑡𝑟𝑎𝑛𝑠𝑚𝑖𝑡𝑡𝑒𝑑</m:t>
                          </m:r>
                        </m:sub>
                      </m:sSub>
                      <m:r>
                        <a:rPr lang="fr-CH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["/>
                          <m:endChr m:val="]"/>
                          <m:ctrlPr>
                            <a:rPr lang="fr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300,500</m:t>
                          </m:r>
                        </m:e>
                      </m:d>
                      <m:r>
                        <a:rPr lang="fr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𝑚𝑊</m:t>
                      </m:r>
                    </m:oMath>
                  </m:oMathPara>
                </a14:m>
                <a:endParaRPr lang="fr-CH" dirty="0"/>
              </a:p>
              <a:p>
                <a:pPr marL="342900" lvl="1" indent="0">
                  <a:buNone/>
                </a:pPr>
                <a:endParaRPr lang="fr-CH" dirty="0"/>
              </a:p>
              <a:p>
                <a:pPr marL="342900" lvl="1" indent="0">
                  <a:buNone/>
                </a:pPr>
                <a:r>
                  <a:rPr lang="fr-CH" dirty="0" err="1"/>
                  <a:t>With</a:t>
                </a:r>
                <a:r>
                  <a:rPr lang="fr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 </m:t>
                    </m:r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𝑚𝐴</m:t>
                    </m:r>
                    <m:r>
                      <a:rPr lang="fr-CH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CH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𝑎𝑓𝑡𝑒𝑟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𝑠𝑡𝑒𝑝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  <m:r>
                      <a:rPr lang="fr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300, 500</m:t>
                        </m:r>
                      </m:e>
                    </m:d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fr-CH" dirty="0"/>
              </a:p>
              <a:p>
                <a:pPr marL="342900" lvl="1" indent="0">
                  <a:buNone/>
                </a:pPr>
                <a:endParaRPr lang="fr-CH" dirty="0"/>
              </a:p>
              <a:p>
                <a:pPr lvl="1"/>
                <a:r>
                  <a:rPr lang="fr-CH" dirty="0" err="1"/>
                  <a:t>Parasitics</a:t>
                </a:r>
                <a:r>
                  <a:rPr lang="fr-CH" dirty="0"/>
                  <a:t> </a:t>
                </a:r>
                <a:r>
                  <a:rPr lang="fr-CH" dirty="0" err="1"/>
                  <a:t>effects</a:t>
                </a:r>
                <a:r>
                  <a:rPr lang="fr-CH" dirty="0"/>
                  <a:t> (design and fabrication) of the </a:t>
                </a:r>
                <a:r>
                  <a:rPr lang="fr-CH" dirty="0" err="1"/>
                  <a:t>inductor</a:t>
                </a:r>
                <a:r>
                  <a:rPr lang="fr-CH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𝑝𝑎𝑟𝑎𝑠𝑖𝑡𝑖𝑐</m:t>
                        </m:r>
                      </m:sub>
                    </m:sSub>
                  </m:oMath>
                </a14:m>
                <a:r>
                  <a:rPr lang="fr-CH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CH" i="1">
                            <a:latin typeface="Cambria Math" panose="02040503050406030204" pitchFamily="18" charset="0"/>
                          </a:rPr>
                          <m:t>𝑝𝑎𝑟𝑎𝑠𝑖𝑡𝑖𝑐</m:t>
                        </m:r>
                      </m:sub>
                    </m:sSub>
                  </m:oMath>
                </a14:m>
                <a:r>
                  <a:rPr lang="fr-CH" dirty="0"/>
                  <a:t>)</a:t>
                </a:r>
              </a:p>
              <a:p>
                <a:pPr marL="342900" lvl="1" indent="0">
                  <a:buNone/>
                </a:pPr>
                <a:r>
                  <a:rPr lang="fr-CH" dirty="0"/>
                  <a:t> </a:t>
                </a:r>
              </a:p>
              <a:p>
                <a:pPr lvl="1"/>
                <a:r>
                  <a:rPr lang="fr-CH" dirty="0" err="1"/>
                  <a:t>Fixed</a:t>
                </a:r>
                <a:r>
                  <a:rPr lang="fr-CH" dirty="0"/>
                  <a:t> </a:t>
                </a:r>
                <a:r>
                  <a:rPr lang="fr-CH" dirty="0" err="1"/>
                  <a:t>frequency</a:t>
                </a:r>
                <a:endParaRPr lang="fr-CH" dirty="0"/>
              </a:p>
              <a:p>
                <a:r>
                  <a:rPr lang="fr-CH" dirty="0" err="1"/>
                  <a:t>Choice</a:t>
                </a:r>
                <a:r>
                  <a:rPr lang="fr-CH" dirty="0"/>
                  <a:t> of the </a:t>
                </a:r>
                <a:r>
                  <a:rPr lang="fr-CH" dirty="0" err="1"/>
                  <a:t>frequency</a:t>
                </a:r>
                <a:endParaRPr lang="fr-CH" dirty="0"/>
              </a:p>
              <a:p>
                <a:endParaRPr lang="fr-CH" dirty="0"/>
              </a:p>
              <a:p>
                <a:pPr marL="342900" lvl="1" indent="0">
                  <a:buNone/>
                </a:pPr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E7FBFFBE-94FE-A5CB-FD3D-F9D44AC3E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xfrm>
                <a:off x="904874" y="788833"/>
                <a:ext cx="7191991" cy="3894291"/>
              </a:xfrm>
              <a:blipFill>
                <a:blip r:embed="rId2"/>
                <a:stretch>
                  <a:fillRect t="-2191" r="-763" b="-1252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05B3E9-3308-7304-0A8C-258F822D43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D4686D-7D6A-8E1A-17E5-12BB799141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5B5CB6-E581-A6F0-B97F-E4C3DC116E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4DE20F4A-C6DA-9045-A31E-5A73B683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4581524" cy="1072753"/>
          </a:xfrm>
        </p:spPr>
        <p:txBody>
          <a:bodyPr>
            <a:normAutofit/>
          </a:bodyPr>
          <a:lstStyle/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br>
              <a:rPr lang="fr-CH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908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4A38-FA09-C775-D7E0-56B079197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870B1F82-4A44-BCB6-9853-844410A68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864712"/>
            <a:ext cx="7191991" cy="3341052"/>
          </a:xfrm>
        </p:spPr>
        <p:txBody>
          <a:bodyPr>
            <a:normAutofit/>
          </a:bodyPr>
          <a:lstStyle/>
          <a:p>
            <a:endParaRPr lang="fr-CH" dirty="0"/>
          </a:p>
          <a:p>
            <a:pPr marL="342900" lvl="1" indent="0">
              <a:buNone/>
            </a:pPr>
            <a:r>
              <a:rPr lang="fr-CH" dirty="0"/>
              <a:t>		</a:t>
            </a:r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CBA3D3-522C-A223-916A-4BDFE1A4A1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D7DD01-8DB7-8A9C-5508-0A81C1C90C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9218CC-4DC9-DB68-EBBC-1E6921C93A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D9EBD8C7-9683-DDC5-EECC-52C9F699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4581524" cy="1072753"/>
          </a:xfrm>
        </p:spPr>
        <p:txBody>
          <a:bodyPr>
            <a:normAutofit fontScale="90000"/>
          </a:bodyPr>
          <a:lstStyle/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r>
              <a:rPr lang="fr-CH" dirty="0"/>
              <a:t>: </a:t>
            </a:r>
            <a:r>
              <a:rPr lang="fr-CH" sz="2200" dirty="0" err="1"/>
              <a:t>Choice</a:t>
            </a:r>
            <a:r>
              <a:rPr lang="fr-CH" sz="2200" dirty="0"/>
              <a:t> of the </a:t>
            </a:r>
            <a:r>
              <a:rPr lang="fr-CH" sz="2200" dirty="0" err="1"/>
              <a:t>frequency</a:t>
            </a:r>
            <a:br>
              <a:rPr lang="fr-CH" dirty="0"/>
            </a:br>
            <a:endParaRPr lang="fr-FR" dirty="0"/>
          </a:p>
        </p:txBody>
      </p:sp>
      <p:pic>
        <p:nvPicPr>
          <p:cNvPr id="8" name="Picture 7" descr="A chart of different radio signals&#10;&#10;AI-generated content may be incorrect.">
            <a:extLst>
              <a:ext uri="{FF2B5EF4-FFF2-40B4-BE49-F238E27FC236}">
                <a16:creationId xmlns:a16="http://schemas.microsoft.com/office/drawing/2014/main" id="{1761B139-5B08-DB8A-1838-AC6B3F71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12" y="1604145"/>
            <a:ext cx="4285120" cy="18621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ce réservé pour une image  1">
                <a:extLst>
                  <a:ext uri="{FF2B5EF4-FFF2-40B4-BE49-F238E27FC236}">
                    <a16:creationId xmlns:a16="http://schemas.microsoft.com/office/drawing/2014/main" id="{0B20DE7F-7188-455E-B286-246168C3F8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2713" y="632350"/>
                <a:ext cx="3812175" cy="4315887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fontScale="850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CH" dirty="0"/>
                  <a:t>Skin </a:t>
                </a:r>
                <a:r>
                  <a:rPr lang="fr-CH" dirty="0" err="1"/>
                  <a:t>depth</a:t>
                </a:r>
                <a:r>
                  <a:rPr lang="fr-CH" dirty="0"/>
                  <a:t> </a:t>
                </a:r>
              </a:p>
              <a:p>
                <a:pPr marL="0" indent="0" algn="ctr">
                  <a:buNone/>
                </a:pPr>
                <a:r>
                  <a:rPr lang="el-GR" dirty="0"/>
                  <a:t>δ</a:t>
                </a: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lang="fr-CH" dirty="0"/>
                  <a:t> </a:t>
                </a:r>
              </a:p>
              <a:p>
                <a:pPr marL="0" indent="0" algn="ctr">
                  <a:buNone/>
                </a:pPr>
                <a:endParaRPr lang="fr-CH" dirty="0"/>
              </a:p>
              <a:p>
                <a:pPr marL="342900" lvl="1" indent="0" algn="ctr">
                  <a:buNone/>
                </a:pP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dirty="0"/>
                  <a:t> </a:t>
                </a:r>
                <a14:m>
                  <m:oMath xmlns:m="http://schemas.openxmlformats.org/officeDocument/2006/math">
                    <m:r>
                      <a:rPr lang="fr-CH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fr-CH" dirty="0"/>
                  <a:t>[10 kHz -15 MHz]</a:t>
                </a:r>
              </a:p>
              <a:p>
                <a:pPr marL="342900" lvl="1" indent="0" algn="ctr">
                  <a:buNone/>
                </a:pPr>
                <a:endParaRPr lang="fr-CH" dirty="0"/>
              </a:p>
              <a:p>
                <a:r>
                  <a:rPr lang="fr-CH" dirty="0"/>
                  <a:t>Most </a:t>
                </a:r>
                <a:r>
                  <a:rPr lang="fr-CH" dirty="0" err="1"/>
                  <a:t>used</a:t>
                </a:r>
                <a:r>
                  <a:rPr lang="fr-CH" dirty="0"/>
                  <a:t> </a:t>
                </a:r>
                <a:r>
                  <a:rPr lang="fr-CH" dirty="0" err="1"/>
                  <a:t>frequency</a:t>
                </a:r>
                <a:r>
                  <a:rPr lang="fr-CH" dirty="0"/>
                  <a:t> in </a:t>
                </a:r>
                <a:r>
                  <a:rPr lang="fr-CH" dirty="0" err="1"/>
                  <a:t>medical</a:t>
                </a:r>
                <a:r>
                  <a:rPr lang="fr-CH" dirty="0"/>
                  <a:t> </a:t>
                </a:r>
                <a:r>
                  <a:rPr lang="fr-CH" dirty="0" err="1"/>
                  <a:t>device</a:t>
                </a:r>
                <a:r>
                  <a:rPr lang="fr-CH" dirty="0"/>
                  <a:t>: </a:t>
                </a: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dirty="0"/>
                  <a:t> = 13,56 MHz</a:t>
                </a:r>
              </a:p>
              <a:p>
                <a:endParaRPr lang="fr-CH" dirty="0"/>
              </a:p>
              <a:p>
                <a:r>
                  <a:rPr lang="fr-CH" dirty="0" err="1"/>
                  <a:t>Quality</a:t>
                </a:r>
                <a:r>
                  <a:rPr lang="fr-CH" dirty="0"/>
                  <a:t> Factor: </a:t>
                </a:r>
                <a:r>
                  <a:rPr lang="fr-CH" dirty="0" err="1"/>
                  <a:t>Measure</a:t>
                </a:r>
                <a:r>
                  <a:rPr lang="fr-CH" dirty="0"/>
                  <a:t> of the </a:t>
                </a:r>
                <a:r>
                  <a:rPr lang="fr-CH" dirty="0" err="1"/>
                  <a:t>goodness</a:t>
                </a:r>
                <a:r>
                  <a:rPr lang="fr-CH" dirty="0"/>
                  <a:t> of a </a:t>
                </a:r>
                <a:r>
                  <a:rPr lang="fr-CH" dirty="0" err="1"/>
                  <a:t>resonant</a:t>
                </a:r>
                <a:r>
                  <a:rPr lang="fr-CH" dirty="0"/>
                  <a:t> system in </a:t>
                </a:r>
                <a:r>
                  <a:rPr lang="fr-CH" dirty="0" err="1"/>
                  <a:t>term</a:t>
                </a:r>
                <a:r>
                  <a:rPr lang="fr-CH" dirty="0"/>
                  <a:t> of </a:t>
                </a:r>
                <a:r>
                  <a:rPr lang="fr-CH" dirty="0" err="1"/>
                  <a:t>energy</a:t>
                </a:r>
                <a:r>
                  <a:rPr lang="fr-CH" dirty="0"/>
                  <a:t> </a:t>
                </a:r>
                <a:r>
                  <a:rPr lang="fr-CH" dirty="0" err="1"/>
                  <a:t>stored</a:t>
                </a:r>
                <a:r>
                  <a:rPr lang="fr-CH" dirty="0"/>
                  <a:t> versus </a:t>
                </a:r>
                <a:r>
                  <a:rPr lang="fr-CH" dirty="0" err="1"/>
                  <a:t>energy</a:t>
                </a:r>
                <a:r>
                  <a:rPr lang="fr-CH" dirty="0"/>
                  <a:t> </a:t>
                </a:r>
                <a:r>
                  <a:rPr lang="fr-CH" dirty="0" err="1"/>
                  <a:t>lost</a:t>
                </a:r>
                <a:endParaRPr lang="fr-CH" dirty="0"/>
              </a:p>
              <a:p>
                <a:endParaRPr lang="fr-CH" dirty="0"/>
              </a:p>
              <a:p>
                <a:pPr marL="0" indent="0" algn="ctr">
                  <a:buNone/>
                </a:pPr>
                <a:r>
                  <a:rPr lang="en-US" dirty="0"/>
                  <a:t>Q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𝑓𝐿</m:t>
                        </m:r>
                      </m:num>
                      <m:den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fr-CH" dirty="0"/>
              </a:p>
              <a:p>
                <a:pPr marL="0" indent="0">
                  <a:buNone/>
                </a:pPr>
                <a:endParaRPr lang="fr-CH" dirty="0"/>
              </a:p>
              <a:p>
                <a:pPr marL="342900" lvl="1" indent="0">
                  <a:buNone/>
                </a:pPr>
                <a:endParaRPr lang="fr-CH" dirty="0"/>
              </a:p>
              <a:p>
                <a:pPr lvl="1"/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9" name="Espace réservé pour une image  1">
                <a:extLst>
                  <a:ext uri="{FF2B5EF4-FFF2-40B4-BE49-F238E27FC236}">
                    <a16:creationId xmlns:a16="http://schemas.microsoft.com/office/drawing/2014/main" id="{0B20DE7F-7188-455E-B286-246168C3F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713" y="632350"/>
                <a:ext cx="3812175" cy="4315887"/>
              </a:xfrm>
              <a:prstGeom prst="rect">
                <a:avLst/>
              </a:prstGeom>
              <a:blipFill>
                <a:blip r:embed="rId4"/>
                <a:stretch>
                  <a:fillRect t="-1836" r="-1280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B47FAA-4BA6-532B-EB69-6F822B2F1E00}"/>
              </a:ext>
            </a:extLst>
          </p:cNvPr>
          <p:cNvSpPr txBox="1"/>
          <p:nvPr/>
        </p:nvSpPr>
        <p:spPr>
          <a:xfrm>
            <a:off x="806905" y="4857889"/>
            <a:ext cx="6247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100" dirty="0"/>
              <a:t>https://soundgirls.org/a-beginners-guide-to-wireless-frequencies/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1281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046A-EC4F-F860-BBDF-504B4F5E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478777DC-A49E-65A4-F5C1-B749E50F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864712"/>
            <a:ext cx="7191991" cy="3341052"/>
          </a:xfrm>
        </p:spPr>
        <p:txBody>
          <a:bodyPr>
            <a:normAutofit/>
          </a:bodyPr>
          <a:lstStyle/>
          <a:p>
            <a:endParaRPr lang="fr-CH" dirty="0"/>
          </a:p>
          <a:p>
            <a:pPr marL="342900" lvl="1" indent="0">
              <a:buNone/>
            </a:pPr>
            <a:r>
              <a:rPr lang="fr-CH" dirty="0"/>
              <a:t>		</a:t>
            </a:r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0916DE-56D2-AA18-5B2D-C244808C7B8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305177-17D6-5577-7980-2B0A62EE3CD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107BBF-4997-DDC3-C932-4D8A9BC963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222EAE0-70CE-14FF-8F98-B710CFD9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4581524" cy="1072753"/>
          </a:xfrm>
        </p:spPr>
        <p:txBody>
          <a:bodyPr>
            <a:normAutofit fontScale="90000"/>
          </a:bodyPr>
          <a:lstStyle/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r>
              <a:rPr lang="fr-CH" dirty="0"/>
              <a:t>: </a:t>
            </a:r>
            <a:r>
              <a:rPr lang="fr-CH" sz="2200" dirty="0" err="1"/>
              <a:t>Choice</a:t>
            </a:r>
            <a:r>
              <a:rPr lang="fr-CH" sz="2200" dirty="0"/>
              <a:t> of the </a:t>
            </a:r>
            <a:r>
              <a:rPr lang="fr-CH" sz="2200" dirty="0" err="1"/>
              <a:t>frequency</a:t>
            </a:r>
            <a:r>
              <a:rPr lang="fr-CH" sz="2200" dirty="0"/>
              <a:t> -  </a:t>
            </a:r>
            <a:r>
              <a:rPr lang="fr-CH" sz="2200" dirty="0" err="1"/>
              <a:t>finding</a:t>
            </a:r>
            <a:r>
              <a:rPr lang="fr-CH" sz="2200" dirty="0"/>
              <a:t> the components</a:t>
            </a:r>
            <a:br>
              <a:rPr lang="fr-CH" dirty="0"/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ce réservé pour une image  1">
                <a:extLst>
                  <a:ext uri="{FF2B5EF4-FFF2-40B4-BE49-F238E27FC236}">
                    <a16:creationId xmlns:a16="http://schemas.microsoft.com/office/drawing/2014/main" id="{956E88AD-0BB5-6DC7-5009-394950F97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9751" y="1120878"/>
                <a:ext cx="7424817" cy="3891590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lnSpcReduction="1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CH" dirty="0"/>
                  <a:t> </a:t>
                </a:r>
                <a:r>
                  <a:rPr lang="fr-CH" dirty="0" err="1"/>
                  <a:t>Fixed</a:t>
                </a:r>
                <a:r>
                  <a:rPr lang="fr-CH" dirty="0"/>
                  <a:t> </a:t>
                </a:r>
                <a:r>
                  <a:rPr lang="fr-CH" dirty="0" err="1"/>
                  <a:t>frequency</a:t>
                </a:r>
                <a:endParaRPr lang="fr-CH" dirty="0"/>
              </a:p>
              <a:p>
                <a:r>
                  <a:rPr lang="fr-CH" dirty="0"/>
                  <a:t>Rage of capacitance and inductance values</a:t>
                </a:r>
              </a:p>
              <a:p>
                <a:endParaRPr lang="fr-CH" dirty="0"/>
              </a:p>
              <a:p>
                <a:pPr marL="0" indent="0">
                  <a:buNone/>
                </a:pPr>
                <a:endParaRPr lang="fr-CH" dirty="0"/>
              </a:p>
              <a:p>
                <a:pPr marL="0" indent="0">
                  <a:buNone/>
                </a:pPr>
                <a:endParaRPr lang="fr-CH" dirty="0"/>
              </a:p>
              <a:p>
                <a:r>
                  <a:rPr lang="fr-CH" dirty="0" err="1"/>
                  <a:t>Resonant</a:t>
                </a:r>
                <a:r>
                  <a:rPr lang="fr-CH" dirty="0"/>
                  <a:t> </a:t>
                </a:r>
                <a:r>
                  <a:rPr lang="fr-CH" dirty="0" err="1"/>
                  <a:t>frequency</a:t>
                </a:r>
                <a:r>
                  <a:rPr lang="fr-CH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H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endParaRPr lang="fr-CH" dirty="0"/>
              </a:p>
              <a:p>
                <a:r>
                  <a:rPr lang="fr-CH" dirty="0" err="1"/>
                  <a:t>Quality</a:t>
                </a:r>
                <a:r>
                  <a:rPr lang="fr-CH" dirty="0"/>
                  <a:t> Factor:</a:t>
                </a:r>
              </a:p>
              <a:p>
                <a:pPr marL="0" indent="0" algn="ctr">
                  <a:buNone/>
                </a:pPr>
                <a:r>
                  <a:rPr lang="en-US" dirty="0"/>
                  <a:t>Q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𝑓𝐿</m:t>
                        </m:r>
                      </m:num>
                      <m:den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fr-CH" dirty="0"/>
              </a:p>
              <a:p>
                <a:pPr lvl="1"/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marL="342900" lvl="1" indent="0">
                  <a:buNone/>
                </a:pPr>
                <a:endParaRPr lang="fr-CH" dirty="0"/>
              </a:p>
            </p:txBody>
          </p:sp>
        </mc:Choice>
        <mc:Fallback xmlns="">
          <p:sp>
            <p:nvSpPr>
              <p:cNvPr id="9" name="Espace réservé pour une image  1">
                <a:extLst>
                  <a:ext uri="{FF2B5EF4-FFF2-40B4-BE49-F238E27FC236}">
                    <a16:creationId xmlns:a16="http://schemas.microsoft.com/office/drawing/2014/main" id="{956E88AD-0BB5-6DC7-5009-394950F97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51" y="1120878"/>
                <a:ext cx="7424817" cy="3891590"/>
              </a:xfrm>
              <a:prstGeom prst="rect">
                <a:avLst/>
              </a:prstGeom>
              <a:blipFill>
                <a:blip r:embed="rId2"/>
                <a:stretch>
                  <a:fillRect t="-2351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117ADC-4536-8154-927C-100FF0AAB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66278"/>
              </p:ext>
            </p:extLst>
          </p:nvPr>
        </p:nvGraphicFramePr>
        <p:xfrm>
          <a:off x="3396954" y="1862992"/>
          <a:ext cx="2830410" cy="695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205">
                  <a:extLst>
                    <a:ext uri="{9D8B030D-6E8A-4147-A177-3AD203B41FA5}">
                      <a16:colId xmlns:a16="http://schemas.microsoft.com/office/drawing/2014/main" val="3990556625"/>
                    </a:ext>
                  </a:extLst>
                </a:gridCol>
                <a:gridCol w="1415205">
                  <a:extLst>
                    <a:ext uri="{9D8B030D-6E8A-4147-A177-3AD203B41FA5}">
                      <a16:colId xmlns:a16="http://schemas.microsoft.com/office/drawing/2014/main" val="2335673578"/>
                    </a:ext>
                  </a:extLst>
                </a:gridCol>
              </a:tblGrid>
              <a:tr h="292982"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Capacitance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Inductance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84365"/>
                  </a:ext>
                </a:extLst>
              </a:tr>
              <a:tr h="398349"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~[10 pF; 1 nF]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~[5, 100] µF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6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D56F-A277-03C6-4B3C-B5EC4CB7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470CBDC2-C5D1-DCAD-3D16-CB5C214675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7238" y="2863994"/>
            <a:ext cx="3022884" cy="1221958"/>
          </a:xfrm>
        </p:spPr>
        <p:txBody>
          <a:bodyPr>
            <a:normAutofit/>
          </a:bodyPr>
          <a:lstStyle/>
          <a:p>
            <a:r>
              <a:rPr lang="fr-CH" dirty="0" err="1"/>
              <a:t>Adjusted</a:t>
            </a:r>
            <a:r>
              <a:rPr lang="fr-CH" dirty="0"/>
              <a:t> value of C</a:t>
            </a:r>
          </a:p>
          <a:p>
            <a:pPr marL="342900" lvl="1" indent="0">
              <a:buNone/>
            </a:pPr>
            <a:r>
              <a:rPr lang="fr-CH" dirty="0"/>
              <a:t>		</a:t>
            </a:r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FA6C15-E728-2379-C8B3-BC14D40F03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13CDD4-7BCD-9FDB-47B6-A9FB89281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F259B1-4194-C5E6-B849-229A2CCD67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018C1A41-C1C8-12A5-13E0-C1BAE041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4581524" cy="1072753"/>
          </a:xfrm>
        </p:spPr>
        <p:txBody>
          <a:bodyPr>
            <a:normAutofit fontScale="90000"/>
          </a:bodyPr>
          <a:lstStyle/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r>
              <a:rPr lang="fr-CH" dirty="0"/>
              <a:t>: </a:t>
            </a:r>
            <a:r>
              <a:rPr lang="fr-CH" sz="2200" dirty="0" err="1"/>
              <a:t>Choice</a:t>
            </a:r>
            <a:r>
              <a:rPr lang="fr-CH" sz="2200" dirty="0"/>
              <a:t> of the </a:t>
            </a:r>
            <a:r>
              <a:rPr lang="fr-CH" sz="2200" dirty="0" err="1"/>
              <a:t>frequency</a:t>
            </a:r>
            <a:r>
              <a:rPr lang="fr-CH" sz="2200" dirty="0"/>
              <a:t> -  </a:t>
            </a:r>
            <a:r>
              <a:rPr lang="fr-CH" sz="2200" dirty="0" err="1"/>
              <a:t>finding</a:t>
            </a:r>
            <a:r>
              <a:rPr lang="fr-CH" sz="2200" dirty="0"/>
              <a:t> the components</a:t>
            </a:r>
            <a:br>
              <a:rPr lang="fr-CH" dirty="0"/>
            </a:br>
            <a:endParaRPr lang="fr-FR" dirty="0"/>
          </a:p>
        </p:txBody>
      </p:sp>
      <p:pic>
        <p:nvPicPr>
          <p:cNvPr id="12" name="Picture 11" descr="A graph with a line and red dots&#10;&#10;AI-generated content may be incorrect.">
            <a:extLst>
              <a:ext uri="{FF2B5EF4-FFF2-40B4-BE49-F238E27FC236}">
                <a16:creationId xmlns:a16="http://schemas.microsoft.com/office/drawing/2014/main" id="{812FEB42-1A9D-9792-C4CB-50CAD6922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263" y="937736"/>
            <a:ext cx="4781156" cy="358586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B95452-A3DD-0664-74B0-146E90F42BE3}"/>
              </a:ext>
            </a:extLst>
          </p:cNvPr>
          <p:cNvSpPr/>
          <p:nvPr/>
        </p:nvSpPr>
        <p:spPr>
          <a:xfrm>
            <a:off x="2555509" y="1329112"/>
            <a:ext cx="1262358" cy="89553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F47EE-7CF7-D46D-94E1-B7C930365C1B}"/>
              </a:ext>
            </a:extLst>
          </p:cNvPr>
          <p:cNvSpPr txBox="1"/>
          <p:nvPr/>
        </p:nvSpPr>
        <p:spPr>
          <a:xfrm>
            <a:off x="2555510" y="1329112"/>
            <a:ext cx="1262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 err="1"/>
              <a:t>Quality</a:t>
            </a:r>
            <a:r>
              <a:rPr lang="fr-CH" dirty="0"/>
              <a:t> Factor</a:t>
            </a:r>
          </a:p>
          <a:p>
            <a:pPr algn="ctr"/>
            <a:r>
              <a:rPr lang="fr-CH" dirty="0"/>
              <a:t>+</a:t>
            </a:r>
          </a:p>
          <a:p>
            <a:pPr algn="ctr"/>
            <a:r>
              <a:rPr lang="fr-CH" dirty="0" err="1"/>
              <a:t>Resonant</a:t>
            </a:r>
            <a:r>
              <a:rPr lang="fr-CH" dirty="0"/>
              <a:t> </a:t>
            </a:r>
            <a:r>
              <a:rPr lang="fr-CH" dirty="0" err="1"/>
              <a:t>frequency</a:t>
            </a:r>
            <a:endParaRPr lang="fr-CH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4345CA4-937F-E201-CCDD-4D10F2B1C7ED}"/>
              </a:ext>
            </a:extLst>
          </p:cNvPr>
          <p:cNvSpPr/>
          <p:nvPr/>
        </p:nvSpPr>
        <p:spPr>
          <a:xfrm>
            <a:off x="2089656" y="1628313"/>
            <a:ext cx="465852" cy="376084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D2E28-1C09-9246-9FD7-2A804C48C1E0}"/>
                  </a:ext>
                </a:extLst>
              </p:cNvPr>
              <p:cNvSpPr txBox="1"/>
              <p:nvPr/>
            </p:nvSpPr>
            <p:spPr>
              <a:xfrm>
                <a:off x="833120" y="1462451"/>
                <a:ext cx="126235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CH" sz="12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sz="1200" dirty="0"/>
                  <a:t> = 13,56 MHz</a:t>
                </a:r>
              </a:p>
              <a:p>
                <a:r>
                  <a:rPr lang="fr-CH" sz="1200" dirty="0" err="1"/>
                  <a:t>Sweeping</a:t>
                </a:r>
                <a:r>
                  <a:rPr lang="fr-CH" sz="1200" dirty="0"/>
                  <a:t> of C</a:t>
                </a:r>
              </a:p>
              <a:p>
                <a:r>
                  <a:rPr lang="fr-CH" sz="1200" dirty="0" err="1"/>
                  <a:t>R</a:t>
                </a:r>
                <a:r>
                  <a:rPr lang="fr-CH" sz="1200" baseline="-25000" dirty="0" err="1"/>
                  <a:t>parasitic</a:t>
                </a:r>
                <a:r>
                  <a:rPr lang="fr-CH" sz="1200" baseline="-25000" dirty="0"/>
                  <a:t> </a:t>
                </a:r>
                <a:r>
                  <a:rPr lang="fr-CH" sz="1200" dirty="0"/>
                  <a:t>= 1 </a:t>
                </a:r>
                <a:r>
                  <a:rPr lang="el-GR" sz="1200" dirty="0"/>
                  <a:t>Ω</a:t>
                </a:r>
                <a:endParaRPr lang="fr-CH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D2E28-1C09-9246-9FD7-2A804C48C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20" y="1462451"/>
                <a:ext cx="1262358" cy="669414"/>
              </a:xfrm>
              <a:prstGeom prst="rect">
                <a:avLst/>
              </a:prstGeom>
              <a:blipFill>
                <a:blip r:embed="rId4"/>
                <a:stretch>
                  <a:fillRect l="-483" t="-1818" b="-1818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92DB318-534F-DFEF-00FC-B6EDE1FD0F8D}"/>
              </a:ext>
            </a:extLst>
          </p:cNvPr>
          <p:cNvSpPr txBox="1"/>
          <p:nvPr/>
        </p:nvSpPr>
        <p:spPr>
          <a:xfrm>
            <a:off x="2815722" y="1073336"/>
            <a:ext cx="9144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accent5">
                    <a:lumMod val="75000"/>
                  </a:schemeClr>
                </a:solidFill>
              </a:rPr>
              <a:t>Matlab</a:t>
            </a:r>
          </a:p>
        </p:txBody>
      </p:sp>
      <p:pic>
        <p:nvPicPr>
          <p:cNvPr id="21" name="Picture 20" descr="A number and a number on a white background&#10;&#10;AI-generated content may be incorrect.">
            <a:extLst>
              <a:ext uri="{FF2B5EF4-FFF2-40B4-BE49-F238E27FC236}">
                <a16:creationId xmlns:a16="http://schemas.microsoft.com/office/drawing/2014/main" id="{D2B7B4D6-1EAD-563A-F9AD-A2ADD0E51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562" y="2911323"/>
            <a:ext cx="1689637" cy="385356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45C1FB-8BEC-2893-B796-88559C17D0FB}"/>
              </a:ext>
            </a:extLst>
          </p:cNvPr>
          <p:cNvCxnSpPr/>
          <p:nvPr/>
        </p:nvCxnSpPr>
        <p:spPr>
          <a:xfrm flipH="1">
            <a:off x="5773994" y="3296679"/>
            <a:ext cx="545690" cy="44203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4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7CD4D257-C58F-29CA-78A6-3478998F6C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984" r="39154"/>
          <a:stretch/>
        </p:blipFill>
        <p:spPr>
          <a:xfrm>
            <a:off x="1116315" y="3360519"/>
            <a:ext cx="2305208" cy="58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50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14AB-7CC4-3932-BF34-54F24C1B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B7FBE1B2-AC1C-FA02-F5D8-ACF436BD796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>
              <a:xfrm>
                <a:off x="904874" y="864712"/>
                <a:ext cx="7191991" cy="3639918"/>
              </a:xfrm>
            </p:spPr>
            <p:txBody>
              <a:bodyPr>
                <a:normAutofit/>
              </a:bodyPr>
              <a:lstStyle/>
              <a:p>
                <a:r>
                  <a:rPr lang="fr-CH" dirty="0"/>
                  <a:t>Based on a </a:t>
                </a:r>
                <a:r>
                  <a:rPr lang="fr-CH" dirty="0" err="1"/>
                  <a:t>approximated</a:t>
                </a:r>
                <a:r>
                  <a:rPr lang="fr-CH" dirty="0"/>
                  <a:t> formula of a </a:t>
                </a:r>
                <a:r>
                  <a:rPr lang="fr-CH" dirty="0" err="1"/>
                  <a:t>spherical</a:t>
                </a:r>
                <a:r>
                  <a:rPr lang="fr-CH" dirty="0"/>
                  <a:t> </a:t>
                </a:r>
                <a:r>
                  <a:rPr lang="fr-CH" dirty="0" err="1"/>
                  <a:t>planar</a:t>
                </a:r>
                <a:r>
                  <a:rPr lang="fr-CH" dirty="0"/>
                  <a:t> </a:t>
                </a:r>
                <a:r>
                  <a:rPr lang="fr-CH" dirty="0" err="1"/>
                  <a:t>coil</a:t>
                </a:r>
                <a:r>
                  <a:rPr lang="fr-CH" dirty="0"/>
                  <a:t> inductor</a:t>
                </a:r>
                <a:r>
                  <a:rPr lang="fr-CH" baseline="30000" dirty="0"/>
                  <a:t>1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CH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CH" b="0" i="1" smtClean="0">
                        <a:latin typeface="Cambria Math" panose="02040503050406030204" pitchFamily="18" charset="0"/>
                      </a:rPr>
                      <m:t> ≈ </m:t>
                    </m:r>
                    <m:f>
                      <m:fPr>
                        <m:ctrlP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sSup>
                          <m:sSupPr>
                            <m:ctrlP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𝑎𝑣𝑔</m:t>
                            </m:r>
                          </m:sub>
                        </m:sSub>
                        <m:sSub>
                          <m:sSubPr>
                            <m:ctrlP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CH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fr-C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C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CH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C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fr-CH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fr-CH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H" baseline="30000" dirty="0"/>
              </a:p>
              <a:p>
                <a:endParaRPr lang="fr-CH" baseline="30000" dirty="0"/>
              </a:p>
              <a:p>
                <a:endParaRPr lang="fr-CH" baseline="30000" dirty="0"/>
              </a:p>
            </p:txBody>
          </p:sp>
        </mc:Choice>
        <mc:Fallback xmlns="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B7FBE1B2-AC1C-FA02-F5D8-ACF436BD7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xfrm>
                <a:off x="904874" y="864712"/>
                <a:ext cx="7191991" cy="3639918"/>
              </a:xfrm>
              <a:blipFill>
                <a:blip r:embed="rId3"/>
                <a:stretch>
                  <a:fillRect t="-1675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DCAF6E-899A-ED23-5BD1-B736727E88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E6F928-3C42-9734-958E-9465A85BB1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12BE26-DA1A-1318-B80A-435C927D8F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EFE352AA-35F2-EA40-C033-49F824F0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 fontScale="90000"/>
          </a:bodyPr>
          <a:lstStyle/>
          <a:p>
            <a:r>
              <a:rPr lang="fr-CH" dirty="0"/>
              <a:t>Key Challenges &amp; </a:t>
            </a:r>
            <a:r>
              <a:rPr lang="fr-CH" dirty="0" err="1"/>
              <a:t>Constraints</a:t>
            </a:r>
            <a:r>
              <a:rPr lang="fr-CH" dirty="0"/>
              <a:t>: </a:t>
            </a:r>
            <a:br>
              <a:rPr lang="fr-CH" dirty="0"/>
            </a:br>
            <a:r>
              <a:rPr lang="fr-CH" sz="2200" dirty="0" err="1"/>
              <a:t>Choice</a:t>
            </a:r>
            <a:r>
              <a:rPr lang="fr-CH" sz="2200" dirty="0"/>
              <a:t> of the </a:t>
            </a:r>
            <a:r>
              <a:rPr lang="fr-CH" sz="2200" dirty="0" err="1"/>
              <a:t>frequency</a:t>
            </a:r>
            <a:r>
              <a:rPr lang="fr-CH" sz="2200" dirty="0"/>
              <a:t> -  </a:t>
            </a:r>
            <a:r>
              <a:rPr lang="fr-CH" sz="2200" dirty="0" err="1"/>
              <a:t>finding</a:t>
            </a:r>
            <a:r>
              <a:rPr lang="fr-CH" sz="2200" dirty="0"/>
              <a:t> the components – </a:t>
            </a:r>
            <a:r>
              <a:rPr lang="fr-CH" sz="2200" dirty="0" err="1"/>
              <a:t>finding</a:t>
            </a:r>
            <a:r>
              <a:rPr lang="fr-CH" sz="2200" dirty="0"/>
              <a:t> the </a:t>
            </a:r>
            <a:r>
              <a:rPr lang="fr-CH" sz="2200" dirty="0" err="1"/>
              <a:t>geometric</a:t>
            </a:r>
            <a:r>
              <a:rPr lang="fr-CH" sz="2200" dirty="0"/>
              <a:t> values of L</a:t>
            </a:r>
            <a:br>
              <a:rPr lang="fr-CH" dirty="0"/>
            </a:b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E1396-9936-BE56-E26C-1A2CB59834A1}"/>
              </a:ext>
            </a:extLst>
          </p:cNvPr>
          <p:cNvSpPr txBox="1"/>
          <p:nvPr/>
        </p:nvSpPr>
        <p:spPr>
          <a:xfrm>
            <a:off x="904874" y="4904740"/>
            <a:ext cx="791978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700" dirty="0"/>
              <a:t>1. </a:t>
            </a:r>
            <a:r>
              <a:rPr lang="en-US" sz="700" dirty="0"/>
              <a:t>Mohan, S. S., Hershenson, M. del M., Boyd, S. P., &amp; Lee, T. H. (1999). Simple Accurate Expressions for Planar Spiral Inductances. </a:t>
            </a:r>
            <a:r>
              <a:rPr lang="en-US" sz="700" i="1" dirty="0"/>
              <a:t>IEEE Journal of Solid-State Circuits</a:t>
            </a:r>
            <a:r>
              <a:rPr lang="en-US" sz="700" dirty="0"/>
              <a:t>, 34(10), 1419-1424.</a:t>
            </a:r>
            <a:endParaRPr lang="fr-CH" sz="700" dirty="0"/>
          </a:p>
        </p:txBody>
      </p:sp>
      <p:pic>
        <p:nvPicPr>
          <p:cNvPr id="9" name="Picture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1198A37B-618D-FDCF-343E-E659E78F26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35"/>
          <a:stretch/>
        </p:blipFill>
        <p:spPr>
          <a:xfrm>
            <a:off x="6405563" y="1244818"/>
            <a:ext cx="2336967" cy="110998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B3F37A-124F-CBBE-2D79-4DAEB85B63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587" r="2683"/>
          <a:stretch/>
        </p:blipFill>
        <p:spPr>
          <a:xfrm>
            <a:off x="1047135" y="2320695"/>
            <a:ext cx="675238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0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BAD3-4407-162D-E3D5-FFD59F52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D1B3DB3-E8BC-8515-728B-EF59C4262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9" r="16218" b="11459"/>
          <a:stretch/>
        </p:blipFill>
        <p:spPr>
          <a:xfrm>
            <a:off x="904875" y="991563"/>
            <a:ext cx="3430756" cy="2700000"/>
          </a:xfrm>
          <a:prstGeom prst="rect">
            <a:avLst/>
          </a:prstGeom>
          <a:noFill/>
        </p:spPr>
      </p:pic>
      <p:sp>
        <p:nvSpPr>
          <p:cNvPr id="36" name="Titre 6">
            <a:extLst>
              <a:ext uri="{FF2B5EF4-FFF2-40B4-BE49-F238E27FC236}">
                <a16:creationId xmlns:a16="http://schemas.microsoft.com/office/drawing/2014/main" id="{060B34C9-3A38-644A-8E39-8D0DF5E6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sz="2200" b="1" i="0" kern="1000" spc="-70" baseline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Results:  Coil design</a:t>
            </a:r>
            <a:br>
              <a:rPr lang="fr-FR" sz="2200" b="1" i="0" kern="1000" spc="-70" baseline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br>
              <a:rPr lang="fr-FR" sz="2200" b="1" i="0" kern="1000" spc="-70" baseline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endParaRPr lang="fr-FR" sz="2200" b="1" i="0" kern="1000" spc="-70" baseline="0">
              <a:latin typeface="Franklin Gothic Demi Cond" panose="020B07060304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5F7AA2-004B-467F-91F1-2DF2FA00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9DB863-DD37-79FF-31A3-493DC8B1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115989" y="1874064"/>
            <a:ext cx="3543260" cy="512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Tomas Garate Anderegg </a:t>
            </a:r>
          </a:p>
          <a:p>
            <a:pPr>
              <a:spcAft>
                <a:spcPts val="600"/>
              </a:spcAft>
            </a:pPr>
            <a:r>
              <a:rPr lang="fr-FR" kern="1200" dirty="0"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4FABD8-88D1-D8C3-F874-6F1221BC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238" y="195263"/>
            <a:ext cx="512762" cy="163552"/>
          </a:xfrm>
        </p:spPr>
        <p:txBody>
          <a:bodyPr vert="horz" lIns="90000" tIns="0" rIns="9000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30953F0-DFA7-C1E4-0B5E-23B65D83F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8286074"/>
                  </p:ext>
                </p:extLst>
              </p:nvPr>
            </p:nvGraphicFramePr>
            <p:xfrm>
              <a:off x="1833563" y="3902075"/>
              <a:ext cx="5630892" cy="873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482">
                      <a:extLst>
                        <a:ext uri="{9D8B030D-6E8A-4147-A177-3AD203B41FA5}">
                          <a16:colId xmlns:a16="http://schemas.microsoft.com/office/drawing/2014/main" val="1232561765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072719039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508025371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862975113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437888505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3496582512"/>
                        </a:ext>
                      </a:extLst>
                    </a:gridCol>
                  </a:tblGrid>
                  <a:tr h="5026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L (µm)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W (µm)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CH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b="1" i="1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fr-CH" b="1" i="1" smtClean="0">
                                      <a:latin typeface="Cambria Math" panose="02040503050406030204" pitchFamily="18" charset="0"/>
                                    </a:rPr>
                                    <m:t>𝒐𝒖𝒕</m:t>
                                  </m:r>
                                </m:sub>
                              </m:sSub>
                              <m:r>
                                <a:rPr lang="fr-CH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fr-CH" dirty="0"/>
                            <a:t>(cm)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CH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b="1" i="1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fr-CH" b="1" i="1" smtClean="0">
                                      <a:latin typeface="Cambria Math" panose="02040503050406030204" pitchFamily="18" charset="0"/>
                                    </a:rPr>
                                    <m:t>𝒊𝒏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fr-CH" dirty="0"/>
                            <a:t> (cm)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S (µm)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3815675"/>
                      </a:ext>
                    </a:extLst>
                  </a:tr>
                  <a:tr h="3706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1.76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947.37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4.75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3.44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452.63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77973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30953F0-DFA7-C1E4-0B5E-23B65D83FE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8286074"/>
                  </p:ext>
                </p:extLst>
              </p:nvPr>
            </p:nvGraphicFramePr>
            <p:xfrm>
              <a:off x="1833563" y="3902075"/>
              <a:ext cx="5630892" cy="873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482">
                      <a:extLst>
                        <a:ext uri="{9D8B030D-6E8A-4147-A177-3AD203B41FA5}">
                          <a16:colId xmlns:a16="http://schemas.microsoft.com/office/drawing/2014/main" val="1232561765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072719039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508025371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862975113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1437888505"/>
                        </a:ext>
                      </a:extLst>
                    </a:gridCol>
                    <a:gridCol w="938482">
                      <a:extLst>
                        <a:ext uri="{9D8B030D-6E8A-4147-A177-3AD203B41FA5}">
                          <a16:colId xmlns:a16="http://schemas.microsoft.com/office/drawing/2014/main" val="3496582512"/>
                        </a:ext>
                      </a:extLst>
                    </a:gridCol>
                  </a:tblGrid>
                  <a:tr h="5026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L (µm)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W (µm)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99355" t="-1205" r="-300645" b="-759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01299" t="-1205" r="-202597" b="-759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S (µm)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3815675"/>
                      </a:ext>
                    </a:extLst>
                  </a:tr>
                  <a:tr h="3706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1.76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947.37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4.75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3.44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H" dirty="0"/>
                            <a:t>452.63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779735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EB7E967-5A9F-A58E-2404-22FB6FAD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9" r="16218" b="11459"/>
          <a:stretch/>
        </p:blipFill>
        <p:spPr>
          <a:xfrm>
            <a:off x="4572000" y="991563"/>
            <a:ext cx="3430756" cy="27000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63AD4F-0FD4-9BF2-742B-72851ADC40C2}"/>
              </a:ext>
            </a:extLst>
          </p:cNvPr>
          <p:cNvSpPr txBox="1"/>
          <p:nvPr/>
        </p:nvSpPr>
        <p:spPr>
          <a:xfrm>
            <a:off x="2402056" y="584668"/>
            <a:ext cx="672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 err="1">
                <a:solidFill>
                  <a:schemeClr val="accent5">
                    <a:lumMod val="50000"/>
                  </a:schemeClr>
                </a:solidFill>
              </a:rPr>
              <a:t>Rx</a:t>
            </a:r>
            <a:endParaRPr lang="fr-CH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BC980-5290-C181-28B0-0BE406AC0897}"/>
              </a:ext>
            </a:extLst>
          </p:cNvPr>
          <p:cNvSpPr txBox="1"/>
          <p:nvPr/>
        </p:nvSpPr>
        <p:spPr>
          <a:xfrm>
            <a:off x="5950998" y="584668"/>
            <a:ext cx="672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 err="1">
                <a:solidFill>
                  <a:schemeClr val="accent5">
                    <a:lumMod val="50000"/>
                  </a:schemeClr>
                </a:solidFill>
              </a:rPr>
              <a:t>Tx</a:t>
            </a:r>
            <a:endParaRPr lang="fr-CH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23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6A7BAC-1FF0-0541-9F85-EBD9723850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C8F6A-7134-484C-9DD6-B785DE5F55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0ECE36-6FA9-F448-B7FB-41F2F6A524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27" name="Titre 6">
            <a:extLst>
              <a:ext uri="{FF2B5EF4-FFF2-40B4-BE49-F238E27FC236}">
                <a16:creationId xmlns:a16="http://schemas.microsoft.com/office/drawing/2014/main" id="{EE9182DF-5293-0CE7-BC77-06085065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/>
          </a:bodyPr>
          <a:lstStyle/>
          <a:p>
            <a:r>
              <a:rPr lang="fr-CH" dirty="0" err="1"/>
              <a:t>Results</a:t>
            </a:r>
            <a:r>
              <a:rPr lang="fr-CH" dirty="0"/>
              <a:t>:</a:t>
            </a:r>
            <a:br>
              <a:rPr lang="fr-CH" dirty="0"/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space réservé pour une image  1">
                <a:extLst>
                  <a:ext uri="{FF2B5EF4-FFF2-40B4-BE49-F238E27FC236}">
                    <a16:creationId xmlns:a16="http://schemas.microsoft.com/office/drawing/2014/main" id="{B869D5A0-475E-3A99-12BE-5E5027AA2A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1259" y="1441450"/>
                <a:ext cx="7191991" cy="2810510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fontScale="925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CH" dirty="0"/>
                  <a:t>Coupling factor (K) </a:t>
                </a:r>
                <a:r>
                  <a:rPr lang="fr-CH" dirty="0" err="1"/>
                  <a:t>measures</a:t>
                </a:r>
                <a:r>
                  <a:rPr lang="fr-CH" dirty="0"/>
                  <a:t> how </a:t>
                </a:r>
                <a:r>
                  <a:rPr lang="fr-CH" dirty="0" err="1"/>
                  <a:t>efficiently</a:t>
                </a:r>
                <a:r>
                  <a:rPr lang="fr-CH" dirty="0"/>
                  <a:t> </a:t>
                </a:r>
                <a:r>
                  <a:rPr lang="fr-CH" dirty="0" err="1"/>
                  <a:t>magnetic</a:t>
                </a:r>
                <a:r>
                  <a:rPr lang="fr-CH" dirty="0"/>
                  <a:t> </a:t>
                </a:r>
                <a:r>
                  <a:rPr lang="fr-CH" dirty="0" err="1"/>
                  <a:t>energy</a:t>
                </a:r>
                <a:r>
                  <a:rPr lang="fr-CH" dirty="0"/>
                  <a:t> </a:t>
                </a:r>
                <a:r>
                  <a:rPr lang="fr-CH" dirty="0" err="1"/>
                  <a:t>is</a:t>
                </a:r>
                <a:r>
                  <a:rPr lang="fr-CH" dirty="0"/>
                  <a:t> </a:t>
                </a:r>
                <a:r>
                  <a:rPr lang="fr-CH" dirty="0" err="1"/>
                  <a:t>transferred</a:t>
                </a:r>
                <a:r>
                  <a:rPr lang="fr-CH" dirty="0"/>
                  <a:t> </a:t>
                </a:r>
                <a:r>
                  <a:rPr lang="fr-CH" dirty="0" err="1"/>
                  <a:t>from</a:t>
                </a:r>
                <a:r>
                  <a:rPr lang="fr-CH" dirty="0"/>
                  <a:t> one </a:t>
                </a:r>
                <a:r>
                  <a:rPr lang="fr-CH" dirty="0" err="1"/>
                  <a:t>coil</a:t>
                </a:r>
                <a:r>
                  <a:rPr lang="fr-CH" dirty="0"/>
                  <a:t> to </a:t>
                </a:r>
                <a:r>
                  <a:rPr lang="fr-CH" dirty="0" err="1"/>
                  <a:t>another</a:t>
                </a:r>
                <a:r>
                  <a:rPr lang="fr-CH" dirty="0"/>
                  <a:t>. </a:t>
                </a:r>
              </a:p>
              <a:p>
                <a:r>
                  <a:rPr lang="fr-CH" dirty="0"/>
                  <a:t>K </a:t>
                </a:r>
                <a:r>
                  <a:rPr lang="fr-CH" dirty="0" err="1"/>
                  <a:t>is</a:t>
                </a:r>
                <a:r>
                  <a:rPr lang="fr-CH" dirty="0"/>
                  <a:t> </a:t>
                </a:r>
                <a:r>
                  <a:rPr lang="fr-CH" dirty="0" err="1"/>
                  <a:t>limited</a:t>
                </a:r>
                <a:r>
                  <a:rPr lang="fr-CH" dirty="0"/>
                  <a:t> by </a:t>
                </a:r>
                <a:r>
                  <a:rPr lang="fr-CH" dirty="0" err="1"/>
                  <a:t>coil</a:t>
                </a:r>
                <a:r>
                  <a:rPr lang="fr-CH" dirty="0"/>
                  <a:t> distance, </a:t>
                </a:r>
                <a:r>
                  <a:rPr lang="fr-CH" dirty="0" err="1"/>
                  <a:t>misalignments</a:t>
                </a:r>
                <a:r>
                  <a:rPr lang="fr-CH" dirty="0"/>
                  <a:t> and </a:t>
                </a:r>
                <a:r>
                  <a:rPr lang="fr-CH" dirty="0" err="1"/>
                  <a:t>geometry</a:t>
                </a:r>
                <a:r>
                  <a:rPr lang="fr-CH" dirty="0"/>
                  <a:t> of the </a:t>
                </a:r>
                <a:r>
                  <a:rPr lang="fr-CH" dirty="0" err="1"/>
                  <a:t>coils</a:t>
                </a:r>
                <a:r>
                  <a:rPr lang="fr-CH" dirty="0"/>
                  <a:t>.</a:t>
                </a:r>
              </a:p>
              <a:p>
                <a:endParaRPr lang="fr-CH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CH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fr-CH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CH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H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CH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H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CH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fr-CH" dirty="0"/>
                  <a:t> </a:t>
                </a:r>
              </a:p>
              <a:p>
                <a:pPr marL="0" indent="0" algn="ctr">
                  <a:buNone/>
                </a:pPr>
                <a:endParaRPr lang="fr-CH" dirty="0"/>
              </a:p>
              <a:p>
                <a:pPr marL="0" indent="0">
                  <a:buNone/>
                </a:pPr>
                <a:r>
                  <a:rPr lang="fr-CH" dirty="0" err="1"/>
                  <a:t>where</a:t>
                </a:r>
                <a:r>
                  <a:rPr lang="fr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fr-CH" dirty="0"/>
                  <a:t>= inductive </a:t>
                </a:r>
                <a:r>
                  <a:rPr lang="fr-CH" dirty="0" err="1"/>
                  <a:t>coupling</a:t>
                </a:r>
                <a:r>
                  <a:rPr lang="fr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CH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CH" dirty="0"/>
                  <a:t> inductance</a:t>
                </a:r>
              </a:p>
              <a:p>
                <a:pPr marL="0" indent="0">
                  <a:buNone/>
                </a:pPr>
                <a:endParaRPr lang="fr-CH" dirty="0"/>
              </a:p>
              <a:p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31" name="Espace réservé pour une image  1">
                <a:extLst>
                  <a:ext uri="{FF2B5EF4-FFF2-40B4-BE49-F238E27FC236}">
                    <a16:creationId xmlns:a16="http://schemas.microsoft.com/office/drawing/2014/main" id="{B869D5A0-475E-3A99-12BE-5E5027AA2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59" y="1441450"/>
                <a:ext cx="7191991" cy="2810510"/>
              </a:xfrm>
              <a:prstGeom prst="rect">
                <a:avLst/>
              </a:prstGeom>
              <a:blipFill>
                <a:blip r:embed="rId3"/>
                <a:stretch>
                  <a:fillRect t="-3247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66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3385-FC74-58E6-C935-EF6BE487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335E59-DF34-9CB3-8EA5-2CA4930D6C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599CF9-1659-7900-CD24-94976951C7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1139BD-B2D0-6F2B-6CD6-3E30DA2751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13</a:t>
            </a:fld>
            <a:endParaRPr lang="fr-FR" dirty="0"/>
          </a:p>
        </p:txBody>
      </p:sp>
      <p:pic>
        <p:nvPicPr>
          <p:cNvPr id="26" name="Picture 25" descr="A graph of a graph of a frequency&#10;&#10;AI-generated content may be incorrect.">
            <a:extLst>
              <a:ext uri="{FF2B5EF4-FFF2-40B4-BE49-F238E27FC236}">
                <a16:creationId xmlns:a16="http://schemas.microsoft.com/office/drawing/2014/main" id="{B3973B7A-69D5-3849-1530-922CD48AD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61" y="1304740"/>
            <a:ext cx="4800000" cy="3600000"/>
          </a:xfrm>
          <a:prstGeom prst="rect">
            <a:avLst/>
          </a:prstGeom>
        </p:spPr>
      </p:pic>
      <p:sp>
        <p:nvSpPr>
          <p:cNvPr id="27" name="Titre 6">
            <a:extLst>
              <a:ext uri="{FF2B5EF4-FFF2-40B4-BE49-F238E27FC236}">
                <a16:creationId xmlns:a16="http://schemas.microsoft.com/office/drawing/2014/main" id="{73647C8D-0453-13F6-3A59-08CBB0AF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 fontScale="90000"/>
          </a:bodyPr>
          <a:lstStyle/>
          <a:p>
            <a:r>
              <a:rPr lang="fr-CH" dirty="0" err="1"/>
              <a:t>Results</a:t>
            </a:r>
            <a:r>
              <a:rPr lang="fr-CH" dirty="0"/>
              <a:t>: </a:t>
            </a:r>
            <a:br>
              <a:rPr lang="fr-CH" dirty="0"/>
            </a:br>
            <a:r>
              <a:rPr lang="fr-CH" sz="2400" dirty="0"/>
              <a:t>Simulation of the circuit </a:t>
            </a:r>
            <a:r>
              <a:rPr lang="fr-CH" sz="2400" dirty="0" err="1"/>
              <a:t>with</a:t>
            </a:r>
            <a:r>
              <a:rPr lang="fr-CH" sz="2400" dirty="0"/>
              <a:t> </a:t>
            </a:r>
            <a:r>
              <a:rPr lang="fr-CH" sz="2400" dirty="0" err="1"/>
              <a:t>different</a:t>
            </a:r>
            <a:r>
              <a:rPr lang="fr-CH" sz="2400" dirty="0"/>
              <a:t> values of K</a:t>
            </a:r>
            <a:br>
              <a:rPr lang="fr-CH" dirty="0"/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B30BE764-1283-1DB2-2050-120EA6A163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fontScale="700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CH" dirty="0"/>
              </a:p>
              <a:p>
                <a:r>
                  <a:rPr lang="fr-CH" dirty="0" err="1"/>
                  <a:t>Bandwidth</a:t>
                </a:r>
                <a:r>
                  <a:rPr lang="fr-CH" dirty="0"/>
                  <a:t>: [13,46, 13,68] MHz</a:t>
                </a:r>
              </a:p>
              <a:p>
                <a:r>
                  <a:rPr lang="fr-CH" dirty="0"/>
                  <a:t>Magnitude max: 16,91 dB</a:t>
                </a:r>
              </a:p>
              <a:p>
                <a:r>
                  <a:rPr lang="fr-CH" dirty="0"/>
                  <a:t>Magnitude at </a:t>
                </a: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sz="1800" baseline="-25000" dirty="0" err="1"/>
                  <a:t>resonance</a:t>
                </a:r>
                <a:r>
                  <a:rPr lang="fr-CH" sz="1800" baseline="-25000" dirty="0"/>
                  <a:t> </a:t>
                </a:r>
                <a:r>
                  <a:rPr lang="fr-CH" dirty="0"/>
                  <a:t>:</a:t>
                </a:r>
                <a:r>
                  <a:rPr lang="fr-CH" sz="1800" dirty="0"/>
                  <a:t> 16,91 dB</a:t>
                </a:r>
                <a:endParaRPr lang="fr-CH" dirty="0"/>
              </a:p>
              <a:p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2" name="Espace réservé pour une image  1">
                <a:extLst>
                  <a:ext uri="{FF2B5EF4-FFF2-40B4-BE49-F238E27FC236}">
                    <a16:creationId xmlns:a16="http://schemas.microsoft.com/office/drawing/2014/main" id="{B30BE764-1283-1DB2-2050-120EA6A16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643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8F7D4-36A8-704E-AF37-08718846C3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20A50B-1D21-8C40-91A9-B311F6AF0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E2BFF2-E242-3048-A665-79FC4A427F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10" name="Picture 9" descr="A graph of a graph of a frequency&#10;&#10;AI-generated content may be incorrect.">
            <a:extLst>
              <a:ext uri="{FF2B5EF4-FFF2-40B4-BE49-F238E27FC236}">
                <a16:creationId xmlns:a16="http://schemas.microsoft.com/office/drawing/2014/main" id="{E3468698-E696-BAE5-A630-A8584DF9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2" y="1304740"/>
            <a:ext cx="48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space réservé pour une image  1">
                <a:extLst>
                  <a:ext uri="{FF2B5EF4-FFF2-40B4-BE49-F238E27FC236}">
                    <a16:creationId xmlns:a16="http://schemas.microsoft.com/office/drawing/2014/main" id="{9CB1DB28-6906-0F28-6093-534266600F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fontScale="700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CH" dirty="0"/>
              </a:p>
              <a:p>
                <a:r>
                  <a:rPr lang="fr-CH" dirty="0" err="1"/>
                  <a:t>Bandwidth</a:t>
                </a:r>
                <a:r>
                  <a:rPr lang="fr-CH" dirty="0"/>
                  <a:t>: [13.15, 13.80] MHz</a:t>
                </a:r>
              </a:p>
              <a:p>
                <a:r>
                  <a:rPr lang="fr-CH" dirty="0"/>
                  <a:t>Magnitude max: 19.53 dB</a:t>
                </a:r>
              </a:p>
              <a:p>
                <a:r>
                  <a:rPr lang="fr-CH" dirty="0"/>
                  <a:t>Magnitude at </a:t>
                </a: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sz="1800" baseline="-25000" dirty="0" err="1"/>
                  <a:t>resonance</a:t>
                </a:r>
                <a:r>
                  <a:rPr lang="fr-CH" sz="1800" baseline="-25000" dirty="0"/>
                  <a:t> </a:t>
                </a:r>
                <a:r>
                  <a:rPr lang="fr-CH" dirty="0"/>
                  <a:t>:</a:t>
                </a:r>
                <a:r>
                  <a:rPr lang="fr-CH" sz="1800" dirty="0"/>
                  <a:t> 19.20 dB</a:t>
                </a:r>
                <a:endParaRPr lang="fr-CH" dirty="0"/>
              </a:p>
              <a:p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13" name="Espace réservé pour une image  1">
                <a:extLst>
                  <a:ext uri="{FF2B5EF4-FFF2-40B4-BE49-F238E27FC236}">
                    <a16:creationId xmlns:a16="http://schemas.microsoft.com/office/drawing/2014/main" id="{9CB1DB28-6906-0F28-6093-534266600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re 6">
            <a:extLst>
              <a:ext uri="{FF2B5EF4-FFF2-40B4-BE49-F238E27FC236}">
                <a16:creationId xmlns:a16="http://schemas.microsoft.com/office/drawing/2014/main" id="{F2664174-74B1-E4B0-03E4-B1724A2F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 fontScale="90000"/>
          </a:bodyPr>
          <a:lstStyle/>
          <a:p>
            <a:r>
              <a:rPr lang="fr-CH" dirty="0" err="1"/>
              <a:t>Results</a:t>
            </a:r>
            <a:r>
              <a:rPr lang="fr-CH" dirty="0"/>
              <a:t>: </a:t>
            </a:r>
            <a:br>
              <a:rPr lang="fr-CH" dirty="0"/>
            </a:br>
            <a:r>
              <a:rPr lang="fr-CH" sz="2400" dirty="0"/>
              <a:t>Simulation of the circuit </a:t>
            </a:r>
            <a:r>
              <a:rPr lang="fr-CH" sz="2400" dirty="0" err="1"/>
              <a:t>with</a:t>
            </a:r>
            <a:r>
              <a:rPr lang="fr-CH" sz="2400" dirty="0"/>
              <a:t> </a:t>
            </a:r>
            <a:r>
              <a:rPr lang="fr-CH" sz="2400" dirty="0" err="1"/>
              <a:t>different</a:t>
            </a:r>
            <a:r>
              <a:rPr lang="fr-CH" sz="2400" dirty="0"/>
              <a:t> values of K</a:t>
            </a:r>
            <a:br>
              <a:rPr lang="fr-CH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497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981E69-B0C7-CB4A-8857-52A3E798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FD7E3D-018E-5540-8143-D52C4B40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6594FF-570A-9347-A32A-D6F6024A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11" name="Picture 10" descr="A graph of a graph of a frequency&#10;&#10;AI-generated content may be incorrect.">
            <a:extLst>
              <a:ext uri="{FF2B5EF4-FFF2-40B4-BE49-F238E27FC236}">
                <a16:creationId xmlns:a16="http://schemas.microsoft.com/office/drawing/2014/main" id="{8E578F39-42BF-4B5B-B4C8-C8F1F029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51" y="1304740"/>
            <a:ext cx="48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space réservé pour une image  1">
                <a:extLst>
                  <a:ext uri="{FF2B5EF4-FFF2-40B4-BE49-F238E27FC236}">
                    <a16:creationId xmlns:a16="http://schemas.microsoft.com/office/drawing/2014/main" id="{616B41D5-FD69-BAD3-164D-30BBFCCE0F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 fontScale="700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CH" dirty="0"/>
              </a:p>
              <a:p>
                <a:r>
                  <a:rPr lang="fr-CH" dirty="0" err="1"/>
                  <a:t>Bandwidth</a:t>
                </a:r>
                <a:r>
                  <a:rPr lang="fr-CH" dirty="0"/>
                  <a:t>: [12.13, 14.22] MHz</a:t>
                </a:r>
              </a:p>
              <a:p>
                <a:r>
                  <a:rPr lang="fr-CH" dirty="0"/>
                  <a:t>Magnitude max: 15.01 dB</a:t>
                </a:r>
              </a:p>
              <a:p>
                <a:r>
                  <a:rPr lang="fr-CH" dirty="0"/>
                  <a:t>Magnitude at </a:t>
                </a:r>
                <a14:m>
                  <m:oMath xmlns:m="http://schemas.openxmlformats.org/officeDocument/2006/math">
                    <m:r>
                      <a:rPr lang="fr-CH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CH" sz="1800" baseline="-25000" dirty="0" err="1"/>
                  <a:t>resonance</a:t>
                </a:r>
                <a:r>
                  <a:rPr lang="fr-CH" sz="1800" baseline="-25000" dirty="0"/>
                  <a:t> </a:t>
                </a:r>
                <a:r>
                  <a:rPr lang="fr-CH" dirty="0"/>
                  <a:t>:</a:t>
                </a:r>
                <a:r>
                  <a:rPr lang="fr-CH" sz="1800" dirty="0"/>
                  <a:t> 14.18 dB</a:t>
                </a:r>
                <a:endParaRPr lang="fr-CH" dirty="0"/>
              </a:p>
              <a:p>
                <a:endParaRPr lang="fr-CH" dirty="0"/>
              </a:p>
              <a:p>
                <a:pPr marL="342900" lvl="1" indent="0">
                  <a:buFont typeface="Arial" panose="020B0604020202020204" pitchFamily="34" charset="0"/>
                  <a:buNone/>
                </a:pPr>
                <a:r>
                  <a:rPr lang="fr-CH" dirty="0"/>
                  <a:t>		</a:t>
                </a:r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  <a:p>
                <a:pPr lvl="1"/>
                <a:endParaRPr lang="fr-CH" dirty="0"/>
              </a:p>
            </p:txBody>
          </p:sp>
        </mc:Choice>
        <mc:Fallback xmlns="">
          <p:sp>
            <p:nvSpPr>
              <p:cNvPr id="19" name="Espace réservé pour une image  1">
                <a:extLst>
                  <a:ext uri="{FF2B5EF4-FFF2-40B4-BE49-F238E27FC236}">
                    <a16:creationId xmlns:a16="http://schemas.microsoft.com/office/drawing/2014/main" id="{616B41D5-FD69-BAD3-164D-30BBFCCE0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61" y="2588698"/>
                <a:ext cx="2899390" cy="1414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re 6">
            <a:extLst>
              <a:ext uri="{FF2B5EF4-FFF2-40B4-BE49-F238E27FC236}">
                <a16:creationId xmlns:a16="http://schemas.microsoft.com/office/drawing/2014/main" id="{AF0E6520-78BE-B163-B47A-7B26115D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 fontScale="90000"/>
          </a:bodyPr>
          <a:lstStyle/>
          <a:p>
            <a:r>
              <a:rPr lang="fr-CH" dirty="0" err="1"/>
              <a:t>Results</a:t>
            </a:r>
            <a:r>
              <a:rPr lang="fr-CH" dirty="0"/>
              <a:t>: </a:t>
            </a:r>
            <a:br>
              <a:rPr lang="fr-CH" dirty="0"/>
            </a:br>
            <a:r>
              <a:rPr lang="fr-CH" sz="2400" dirty="0"/>
              <a:t>Simulation of the circuit </a:t>
            </a:r>
            <a:r>
              <a:rPr lang="fr-CH" sz="2400" dirty="0" err="1"/>
              <a:t>with</a:t>
            </a:r>
            <a:r>
              <a:rPr lang="fr-CH" sz="2400" dirty="0"/>
              <a:t> </a:t>
            </a:r>
            <a:r>
              <a:rPr lang="fr-CH" sz="2400" dirty="0" err="1"/>
              <a:t>different</a:t>
            </a:r>
            <a:r>
              <a:rPr lang="fr-CH" sz="2400" dirty="0"/>
              <a:t> values of K</a:t>
            </a:r>
            <a:br>
              <a:rPr lang="fr-CH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6488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328C0A-2B46-D74A-A592-90FFD545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F33233-F767-C245-B534-36F99FB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63D2A-0785-6841-AFED-A5664CA0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12" name="Espace réservé pour une image  3">
            <a:extLst>
              <a:ext uri="{FF2B5EF4-FFF2-40B4-BE49-F238E27FC236}">
                <a16:creationId xmlns:a16="http://schemas.microsoft.com/office/drawing/2014/main" id="{3400A3AE-A79A-2126-09B8-3D23A9063A72}"/>
              </a:ext>
            </a:extLst>
          </p:cNvPr>
          <p:cNvSpPr txBox="1">
            <a:spLocks/>
          </p:cNvSpPr>
          <p:nvPr/>
        </p:nvSpPr>
        <p:spPr>
          <a:xfrm>
            <a:off x="5368749" y="1367337"/>
            <a:ext cx="3665012" cy="265665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Trade-off: </a:t>
            </a:r>
            <a:r>
              <a:rPr lang="fr-CH" dirty="0" err="1"/>
              <a:t>Bandwidth</a:t>
            </a:r>
            <a:r>
              <a:rPr lang="fr-CH" dirty="0"/>
              <a:t> versus </a:t>
            </a:r>
            <a:r>
              <a:rPr lang="fr-CH" dirty="0" err="1"/>
              <a:t>coupling</a:t>
            </a:r>
            <a:r>
              <a:rPr lang="fr-CH" dirty="0"/>
              <a:t> factor (K)</a:t>
            </a:r>
          </a:p>
          <a:p>
            <a:endParaRPr lang="fr-CH" dirty="0"/>
          </a:p>
          <a:p>
            <a:pPr lvl="1"/>
            <a:r>
              <a:rPr lang="fr-CH" dirty="0"/>
              <a:t>High K </a:t>
            </a:r>
            <a:r>
              <a:rPr lang="fr-CH" dirty="0">
                <a:sym typeface="Wingdings" panose="05000000000000000000" pitchFamily="2" charset="2"/>
              </a:rPr>
              <a:t> large </a:t>
            </a:r>
            <a:r>
              <a:rPr lang="fr-CH" dirty="0" err="1">
                <a:sym typeface="Wingdings" panose="05000000000000000000" pitchFamily="2" charset="2"/>
              </a:rPr>
              <a:t>bandwidth</a:t>
            </a:r>
            <a:r>
              <a:rPr lang="fr-CH" dirty="0">
                <a:sym typeface="Wingdings" panose="05000000000000000000" pitchFamily="2" charset="2"/>
              </a:rPr>
              <a:t> + </a:t>
            </a:r>
            <a:r>
              <a:rPr lang="fr-CH" dirty="0" err="1">
                <a:sym typeface="Wingdings" panose="05000000000000000000" pitchFamily="2" charset="2"/>
              </a:rPr>
              <a:t>small</a:t>
            </a:r>
            <a:r>
              <a:rPr lang="fr-CH" dirty="0">
                <a:sym typeface="Wingdings" panose="05000000000000000000" pitchFamily="2" charset="2"/>
              </a:rPr>
              <a:t> maximal amplitude of the </a:t>
            </a:r>
            <a:r>
              <a:rPr lang="fr-CH" dirty="0" err="1">
                <a:sym typeface="Wingdings" panose="05000000000000000000" pitchFamily="2" charset="2"/>
              </a:rPr>
              <a:t>transmitted</a:t>
            </a:r>
            <a:r>
              <a:rPr lang="fr-CH" dirty="0">
                <a:sym typeface="Wingdings" panose="05000000000000000000" pitchFamily="2" charset="2"/>
              </a:rPr>
              <a:t> signal</a:t>
            </a:r>
          </a:p>
          <a:p>
            <a:pPr marL="342900" lvl="1" indent="0">
              <a:buNone/>
            </a:pPr>
            <a:endParaRPr lang="fr-CH" dirty="0">
              <a:sym typeface="Wingdings" panose="05000000000000000000" pitchFamily="2" charset="2"/>
            </a:endParaRPr>
          </a:p>
          <a:p>
            <a:pPr lvl="1"/>
            <a:r>
              <a:rPr lang="fr-CH" dirty="0">
                <a:sym typeface="Wingdings" panose="05000000000000000000" pitchFamily="2" charset="2"/>
              </a:rPr>
              <a:t>Small K </a:t>
            </a:r>
            <a:r>
              <a:rPr lang="fr-CH" dirty="0" err="1">
                <a:sym typeface="Wingdings" panose="05000000000000000000" pitchFamily="2" charset="2"/>
              </a:rPr>
              <a:t>small</a:t>
            </a:r>
            <a:r>
              <a:rPr lang="fr-CH" dirty="0">
                <a:sym typeface="Wingdings" panose="05000000000000000000" pitchFamily="2" charset="2"/>
              </a:rPr>
              <a:t> </a:t>
            </a:r>
            <a:r>
              <a:rPr lang="fr-CH" dirty="0" err="1">
                <a:sym typeface="Wingdings" panose="05000000000000000000" pitchFamily="2" charset="2"/>
              </a:rPr>
              <a:t>bandwidth</a:t>
            </a:r>
            <a:r>
              <a:rPr lang="fr-CH" dirty="0">
                <a:sym typeface="Wingdings" panose="05000000000000000000" pitchFamily="2" charset="2"/>
              </a:rPr>
              <a:t> + </a:t>
            </a:r>
            <a:r>
              <a:rPr lang="fr-CH" dirty="0" err="1">
                <a:sym typeface="Wingdings" panose="05000000000000000000" pitchFamily="2" charset="2"/>
              </a:rPr>
              <a:t>bigger</a:t>
            </a:r>
            <a:r>
              <a:rPr lang="fr-CH" dirty="0">
                <a:sym typeface="Wingdings" panose="05000000000000000000" pitchFamily="2" charset="2"/>
              </a:rPr>
              <a:t> maximal amplitude of the </a:t>
            </a:r>
            <a:r>
              <a:rPr lang="fr-CH" dirty="0" err="1">
                <a:sym typeface="Wingdings" panose="05000000000000000000" pitchFamily="2" charset="2"/>
              </a:rPr>
              <a:t>transmitted</a:t>
            </a:r>
            <a:r>
              <a:rPr lang="fr-CH" dirty="0">
                <a:sym typeface="Wingdings" panose="05000000000000000000" pitchFamily="2" charset="2"/>
              </a:rPr>
              <a:t> signal</a:t>
            </a: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>
              <a:sym typeface="Wingdings" panose="05000000000000000000" pitchFamily="2" charset="2"/>
            </a:endParaRPr>
          </a:p>
        </p:txBody>
      </p:sp>
      <p:sp>
        <p:nvSpPr>
          <p:cNvPr id="36" name="Titre 6">
            <a:extLst>
              <a:ext uri="{FF2B5EF4-FFF2-40B4-BE49-F238E27FC236}">
                <a16:creationId xmlns:a16="http://schemas.microsoft.com/office/drawing/2014/main" id="{4CEAC942-E214-6D2A-BED6-8D5C0452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663937" cy="1072753"/>
          </a:xfrm>
        </p:spPr>
        <p:txBody>
          <a:bodyPr>
            <a:normAutofit fontScale="90000"/>
          </a:bodyPr>
          <a:lstStyle/>
          <a:p>
            <a:r>
              <a:rPr lang="fr-CH" dirty="0" err="1"/>
              <a:t>Results</a:t>
            </a:r>
            <a:r>
              <a:rPr lang="fr-CH" dirty="0"/>
              <a:t>: </a:t>
            </a:r>
            <a:br>
              <a:rPr lang="fr-CH" dirty="0"/>
            </a:br>
            <a:r>
              <a:rPr lang="fr-CH" sz="2400" dirty="0"/>
              <a:t>Simulation of the circuit </a:t>
            </a:r>
            <a:r>
              <a:rPr lang="fr-CH" sz="2400" dirty="0" err="1"/>
              <a:t>with</a:t>
            </a:r>
            <a:r>
              <a:rPr lang="fr-CH" sz="2400" dirty="0"/>
              <a:t> </a:t>
            </a:r>
            <a:r>
              <a:rPr lang="fr-CH" sz="2400" dirty="0" err="1"/>
              <a:t>different</a:t>
            </a:r>
            <a:r>
              <a:rPr lang="fr-CH" sz="2400" dirty="0"/>
              <a:t> values of K</a:t>
            </a:r>
            <a:br>
              <a:rPr lang="fr-CH" dirty="0"/>
            </a:br>
            <a:endParaRPr lang="fr-FR" dirty="0"/>
          </a:p>
        </p:txBody>
      </p:sp>
      <p:pic>
        <p:nvPicPr>
          <p:cNvPr id="9" name="Picture 8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80DE4D54-C2C4-08C8-D3CB-81F6D95E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8" y="1379403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8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388C-CBDA-66F0-97FB-7FDCB4FC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7D9DFD35-DE32-6D50-97F7-02852B98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" r="11385" b="-3"/>
          <a:stretch/>
        </p:blipFill>
        <p:spPr>
          <a:xfrm>
            <a:off x="904875" y="1563688"/>
            <a:ext cx="3671466" cy="326350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pour une image  3">
                <a:extLst>
                  <a:ext uri="{FF2B5EF4-FFF2-40B4-BE49-F238E27FC236}">
                    <a16:creationId xmlns:a16="http://schemas.microsoft.com/office/drawing/2014/main" id="{1E55F906-83D5-236C-C2EC-C8D9E79198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59772" y="1563688"/>
                <a:ext cx="3671466" cy="2820533"/>
              </a:xfrm>
              <a:prstGeom prst="rect">
                <a:avLst/>
              </a:prstGeom>
            </p:spPr>
            <p:txBody>
              <a:bodyPr vert="horz" lIns="18000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0" i="0" kern="1200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Also </a:t>
                </a:r>
                <a:r>
                  <a:rPr lang="fr-FR" dirty="0" err="1"/>
                  <a:t>considering</a:t>
                </a:r>
                <a:r>
                  <a:rPr lang="fr-FR" dirty="0"/>
                  <a:t> the </a:t>
                </a:r>
                <a:r>
                  <a:rPr lang="fr-FR" dirty="0" err="1"/>
                  <a:t>efficiency</a:t>
                </a:r>
                <a:r>
                  <a:rPr lang="fr-FR" dirty="0"/>
                  <a:t> of the system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FR" b="0" i="1" kern="1200" dirty="0" smtClean="0"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𝜂</m:t>
                    </m:r>
                    <m:r>
                      <a:rPr lang="fr-CH" b="0" i="1" kern="1200" dirty="0" smtClean="0"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 </m:t>
                    </m:r>
                    <m:f>
                      <m:fPr>
                        <m:ctrlPr>
                          <a:rPr lang="fr-CH" b="0" i="1" kern="1200" dirty="0" smtClean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CH" b="0" i="1" kern="1200" dirty="0" smtClean="0"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fr-CH" b="0" i="1" kern="1200" dirty="0" smtClean="0"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fr-CH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CH" b="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CH" b="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fr-FR" b="0" i="0" kern="1200" dirty="0"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b="0" i="0" kern="1200" dirty="0" err="1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With</a:t>
                </a:r>
                <a:r>
                  <a:rPr lang="fr-FR" b="0" i="0" kern="1200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fr-CH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0" i="0" kern="1200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the mA magnitude</a:t>
                </a:r>
              </a:p>
              <a:p>
                <a:endParaRPr lang="fr-FR" b="0" i="0" kern="1200" dirty="0"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endParaRPr lang="fr-FR" b="0" i="0" kern="1200" dirty="0"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endParaRPr lang="fr-FR" b="0" i="0" kern="1200" dirty="0"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endParaRPr lang="fr-FR" b="0" i="0" kern="1200" dirty="0"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Espace réservé pour une image  3">
                <a:extLst>
                  <a:ext uri="{FF2B5EF4-FFF2-40B4-BE49-F238E27FC236}">
                    <a16:creationId xmlns:a16="http://schemas.microsoft.com/office/drawing/2014/main" id="{1E55F906-83D5-236C-C2EC-C8D9E7919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772" y="1563688"/>
                <a:ext cx="3671466" cy="2820533"/>
              </a:xfrm>
              <a:prstGeom prst="rect">
                <a:avLst/>
              </a:prstGeom>
              <a:blipFill>
                <a:blip r:embed="rId3"/>
                <a:stretch>
                  <a:fillRect t="-2165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itre 6">
            <a:extLst>
              <a:ext uri="{FF2B5EF4-FFF2-40B4-BE49-F238E27FC236}">
                <a16:creationId xmlns:a16="http://schemas.microsoft.com/office/drawing/2014/main" id="{1EFFB605-E891-245F-4A52-366B9C5A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479846" cy="1355108"/>
          </a:xfr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b="1" i="0" kern="1000" spc="-70" baseline="0" dirty="0" err="1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Results</a:t>
            </a:r>
            <a:r>
              <a:rPr lang="fr-FR" sz="31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: </a:t>
            </a:r>
            <a:br>
              <a:rPr lang="fr-FR" sz="31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fr-FR" sz="22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Simulation of the circuit </a:t>
            </a:r>
            <a:r>
              <a:rPr lang="fr-FR" sz="2200" b="1" i="0" kern="1000" spc="-70" baseline="0" dirty="0" err="1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with</a:t>
            </a:r>
            <a:r>
              <a:rPr lang="fr-FR" sz="22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r>
              <a:rPr lang="fr-FR" sz="2200" b="1" i="0" kern="1000" spc="-70" baseline="0" dirty="0" err="1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different</a:t>
            </a:r>
            <a:r>
              <a:rPr lang="fr-FR" sz="22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values of K – </a:t>
            </a:r>
            <a:r>
              <a:rPr lang="fr-FR" sz="2200" b="1" i="0" kern="1000" spc="-70" baseline="0" dirty="0" err="1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Efficiency</a:t>
            </a:r>
            <a:r>
              <a:rPr lang="fr-FR" sz="22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br>
              <a:rPr lang="fr-FR" sz="1800" b="1" i="0" kern="1000" spc="-70" baseline="0" dirty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endParaRPr lang="fr-FR" sz="1800" b="1" i="0" kern="1000" spc="-70" baseline="0" dirty="0">
              <a:latin typeface="Franklin Gothic Demi Cond" panose="020B07060304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BCE34F-153F-91BE-9653-7C89589F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9F0817-0FDD-4FB5-92A6-606D7542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115989" y="1874064"/>
            <a:ext cx="3543260" cy="512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Tomas Garate Anderegg </a:t>
            </a:r>
          </a:p>
          <a:p>
            <a:pPr>
              <a:spcAft>
                <a:spcPts val="600"/>
              </a:spcAft>
            </a:pPr>
            <a:r>
              <a:rPr lang="fr-FR" kern="1200" dirty="0"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D1276A-FBDB-459D-FBA1-E9B0EC87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238" y="195263"/>
            <a:ext cx="512762" cy="163552"/>
          </a:xfrm>
        </p:spPr>
        <p:txBody>
          <a:bodyPr vert="horz" lIns="90000" tIns="0" rIns="9000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63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46C84240-8C90-9C4E-AA06-7C974CB54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813800"/>
            <a:ext cx="4320268" cy="1804950"/>
          </a:xfrm>
        </p:spPr>
        <p:txBody>
          <a:bodyPr>
            <a:normAutofit fontScale="92500" lnSpcReduction="10000"/>
          </a:bodyPr>
          <a:lstStyle/>
          <a:p>
            <a:r>
              <a:rPr lang="fr-CH" dirty="0" err="1"/>
              <a:t>Rigid</a:t>
            </a:r>
            <a:r>
              <a:rPr lang="fr-CH" dirty="0"/>
              <a:t> PCB - Flexible PCB </a:t>
            </a:r>
            <a:r>
              <a:rPr lang="fr-CH" dirty="0" err="1"/>
              <a:t>implementation</a:t>
            </a:r>
            <a:endParaRPr lang="fr-CH" dirty="0"/>
          </a:p>
          <a:p>
            <a:endParaRPr lang="fr-CH" dirty="0"/>
          </a:p>
          <a:p>
            <a:r>
              <a:rPr lang="fr-CH" dirty="0" err="1"/>
              <a:t>Testing</a:t>
            </a:r>
            <a:r>
              <a:rPr lang="fr-CH" dirty="0"/>
              <a:t> and validation of the model</a:t>
            </a:r>
          </a:p>
          <a:p>
            <a:endParaRPr lang="fr-CH" dirty="0"/>
          </a:p>
          <a:p>
            <a:r>
              <a:rPr lang="fr-CH" dirty="0"/>
              <a:t>Multiple Inductive </a:t>
            </a:r>
            <a:r>
              <a:rPr lang="fr-CH" dirty="0" err="1"/>
              <a:t>Coupling</a:t>
            </a:r>
            <a:endParaRPr lang="fr-CH" dirty="0"/>
          </a:p>
          <a:p>
            <a:endParaRPr lang="fr-CH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5750EBF-A2BC-EB47-895C-9F99B6E1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Next ?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83CAA4-5FD8-404D-8F15-5706BE6461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C3C0C4-9868-3542-8666-046912A5AF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5C13C4-81A0-424D-96F1-1A5F4EC264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6934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4C28A0-A184-8649-A9A4-2BFB1D02EB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4875" y="777875"/>
            <a:ext cx="7646988" cy="1436687"/>
          </a:xfrm>
        </p:spPr>
        <p:txBody>
          <a:bodyPr>
            <a:normAutofit lnSpcReduction="10000"/>
          </a:bodyPr>
          <a:lstStyle/>
          <a:p>
            <a:r>
              <a:rPr lang="fr-FR" dirty="0" err="1"/>
              <a:t>Determined</a:t>
            </a:r>
            <a:r>
              <a:rPr lang="fr-FR" dirty="0"/>
              <a:t> the </a:t>
            </a:r>
            <a:r>
              <a:rPr lang="fr-FR" dirty="0" err="1"/>
              <a:t>different</a:t>
            </a:r>
            <a:r>
              <a:rPr lang="fr-FR" dirty="0"/>
              <a:t> values for a </a:t>
            </a:r>
            <a:r>
              <a:rPr lang="fr-FR" dirty="0" err="1"/>
              <a:t>coil</a:t>
            </a:r>
            <a:r>
              <a:rPr lang="fr-FR" dirty="0"/>
              <a:t> design</a:t>
            </a:r>
          </a:p>
          <a:p>
            <a:endParaRPr lang="fr-FR" dirty="0"/>
          </a:p>
          <a:p>
            <a:r>
              <a:rPr lang="fr-FR" dirty="0" err="1"/>
              <a:t>Simulate</a:t>
            </a:r>
            <a:r>
              <a:rPr lang="fr-FR" dirty="0"/>
              <a:t> the circuit to </a:t>
            </a:r>
            <a:r>
              <a:rPr lang="fr-FR" dirty="0" err="1"/>
              <a:t>see</a:t>
            </a:r>
            <a:r>
              <a:rPr lang="fr-FR" dirty="0"/>
              <a:t> the </a:t>
            </a:r>
            <a:r>
              <a:rPr lang="fr-FR" dirty="0" err="1"/>
              <a:t>effect</a:t>
            </a:r>
            <a:r>
              <a:rPr lang="fr-FR" dirty="0"/>
              <a:t> of the </a:t>
            </a:r>
            <a:r>
              <a:rPr lang="fr-FR" dirty="0" err="1"/>
              <a:t>parameters</a:t>
            </a:r>
            <a:r>
              <a:rPr lang="fr-FR" dirty="0"/>
              <a:t> in </a:t>
            </a:r>
            <a:r>
              <a:rPr lang="fr-FR" dirty="0" err="1"/>
              <a:t>order</a:t>
            </a:r>
            <a:r>
              <a:rPr lang="fr-FR" dirty="0"/>
              <a:t> to </a:t>
            </a:r>
            <a:r>
              <a:rPr lang="fr-FR" dirty="0" err="1"/>
              <a:t>estimate</a:t>
            </a:r>
            <a:r>
              <a:rPr lang="fr-FR" dirty="0"/>
              <a:t> the best </a:t>
            </a:r>
            <a:r>
              <a:rPr lang="fr-FR" dirty="0" err="1"/>
              <a:t>trade</a:t>
            </a:r>
            <a:r>
              <a:rPr lang="fr-FR" dirty="0"/>
              <a:t>-off </a:t>
            </a:r>
            <a:r>
              <a:rPr lang="fr-FR" dirty="0" err="1"/>
              <a:t>between</a:t>
            </a:r>
            <a:r>
              <a:rPr lang="fr-FR" dirty="0"/>
              <a:t> BW and  maximum </a:t>
            </a:r>
            <a:r>
              <a:rPr lang="fr-FR" dirty="0" err="1"/>
              <a:t>transmitted</a:t>
            </a:r>
            <a:r>
              <a:rPr lang="fr-FR" dirty="0"/>
              <a:t> power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68D869-FEAE-4E41-8088-2B1F1C600E3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DA19A9-7B92-DE45-BDD7-1BC0F4B0E8A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1B401C-18BC-4649-B2B0-EB3EECC8764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2CF7EEE-D0B7-6648-AE4B-B2B65E99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pic>
        <p:nvPicPr>
          <p:cNvPr id="9" name="Picture 8" descr="A graph with red line&#10;&#10;AI-generated content may be incorrect.">
            <a:extLst>
              <a:ext uri="{FF2B5EF4-FFF2-40B4-BE49-F238E27FC236}">
                <a16:creationId xmlns:a16="http://schemas.microsoft.com/office/drawing/2014/main" id="{51C15B61-FFFC-1996-12D1-BC43FA49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7" t="4992" r="953" b="7206"/>
          <a:stretch/>
        </p:blipFill>
        <p:spPr>
          <a:xfrm>
            <a:off x="637520" y="2608237"/>
            <a:ext cx="8068267" cy="2340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E2CEE4-86F4-2874-377B-2DFF91CF72D7}"/>
              </a:ext>
            </a:extLst>
          </p:cNvPr>
          <p:cNvCxnSpPr>
            <a:cxnSpLocks/>
          </p:cNvCxnSpPr>
          <p:nvPr/>
        </p:nvCxnSpPr>
        <p:spPr>
          <a:xfrm>
            <a:off x="5486400" y="2421228"/>
            <a:ext cx="0" cy="248351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ECA99E-E396-0828-8172-C2050411180D}"/>
              </a:ext>
            </a:extLst>
          </p:cNvPr>
          <p:cNvSpPr txBox="1"/>
          <p:nvPr/>
        </p:nvSpPr>
        <p:spPr>
          <a:xfrm>
            <a:off x="5222383" y="2130445"/>
            <a:ext cx="635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chemeClr val="accent5">
                    <a:lumMod val="50000"/>
                  </a:schemeClr>
                </a:solidFill>
              </a:rPr>
              <a:t>Here</a:t>
            </a:r>
            <a:endParaRPr lang="fr-CH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944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51DD-7407-9617-2F5D-CA1453E3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8C2CF0-3F07-D3AD-9CE3-701C09497A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FR" dirty="0"/>
              <a:t>Simulation and </a:t>
            </a:r>
            <a:r>
              <a:rPr lang="fr-FR" dirty="0" err="1"/>
              <a:t>implementation</a:t>
            </a:r>
            <a:r>
              <a:rPr lang="fr-FR" dirty="0"/>
              <a:t> of a Wireless Power Module for </a:t>
            </a:r>
            <a:r>
              <a:rPr lang="fr-FR" dirty="0" err="1"/>
              <a:t>dielectric</a:t>
            </a:r>
            <a:r>
              <a:rPr lang="fr-FR" dirty="0"/>
              <a:t> </a:t>
            </a:r>
            <a:r>
              <a:rPr lang="fr-FR" dirty="0" err="1"/>
              <a:t>elastomer</a:t>
            </a:r>
            <a:r>
              <a:rPr lang="fr-FR" dirty="0"/>
              <a:t> </a:t>
            </a:r>
            <a:r>
              <a:rPr lang="fr-FR" dirty="0" err="1"/>
              <a:t>actuator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0AFAAD-1B79-8E24-9B9A-B10FF3E3D93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 dirty="0"/>
              <a:t>Tomas Garate Anderegg </a:t>
            </a:r>
          </a:p>
          <a:p>
            <a:r>
              <a:rPr lang="fr-FR" dirty="0"/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6C5B0F-7206-5701-F107-E8B7EB6F4AE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584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41BCC1A-3427-E6B4-F834-6D7EF2D3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71" y="466725"/>
            <a:ext cx="7752058" cy="4379913"/>
          </a:xfrm>
          <a:prstGeom prst="rect">
            <a:avLst/>
          </a:prstGeom>
          <a:noFill/>
        </p:spPr>
      </p:pic>
      <p:sp>
        <p:nvSpPr>
          <p:cNvPr id="2" name="Espace réservé de la date 1" hidden="1">
            <a:extLst>
              <a:ext uri="{FF2B5EF4-FFF2-40B4-BE49-F238E27FC236}">
                <a16:creationId xmlns:a16="http://schemas.microsoft.com/office/drawing/2014/main" id="{445719D3-DDAF-D540-B7CA-401FA595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C37647-1EE4-834A-89ED-09051ECF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Tomas Garate Anderegg </a:t>
            </a:r>
          </a:p>
          <a:p>
            <a:pPr>
              <a:spcAft>
                <a:spcPts val="600"/>
              </a:spcAft>
            </a:pPr>
            <a:r>
              <a:rPr lang="fr-FR" dirty="0"/>
              <a:t> </a:t>
            </a:r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2C7E0B6A-DC11-3E4F-87D7-E96DD3A4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16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44AB-ED45-EB35-26C1-8DDB841B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urves&#10;&#10;AI-generated content may be incorrect.">
            <a:extLst>
              <a:ext uri="{FF2B5EF4-FFF2-40B4-BE49-F238E27FC236}">
                <a16:creationId xmlns:a16="http://schemas.microsoft.com/office/drawing/2014/main" id="{5B3DE3A3-1C8C-F988-39EB-2CD420F4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17" y="381793"/>
            <a:ext cx="5839884" cy="4379913"/>
          </a:xfrm>
          <a:prstGeom prst="rect">
            <a:avLst/>
          </a:prstGeom>
          <a:noFill/>
        </p:spPr>
      </p:pic>
      <p:sp>
        <p:nvSpPr>
          <p:cNvPr id="2" name="Espace réservé de la date 1" hidden="1">
            <a:extLst>
              <a:ext uri="{FF2B5EF4-FFF2-40B4-BE49-F238E27FC236}">
                <a16:creationId xmlns:a16="http://schemas.microsoft.com/office/drawing/2014/main" id="{D928B8A9-0D5E-F65F-79E4-64C4DAC2B99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1173F3FC-2017-72BF-8B14-E34E4E4146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22</a:t>
            </a:fld>
            <a:endParaRPr lang="fr-FR"/>
          </a:p>
        </p:txBody>
      </p:sp>
      <p:sp>
        <p:nvSpPr>
          <p:cNvPr id="12" name="Date Placeholder 2" hidden="1">
            <a:extLst>
              <a:ext uri="{FF2B5EF4-FFF2-40B4-BE49-F238E27FC236}">
                <a16:creationId xmlns:a16="http://schemas.microsoft.com/office/drawing/2014/main" id="{DB7C01CD-FBA3-60FD-CE6B-FC0BF0F8C8F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590106-50EC-0BE1-9692-7BCB78E42F2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7115989" y="1874064"/>
            <a:ext cx="3543260" cy="51276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Tomas Garate Anderegg </a:t>
            </a:r>
          </a:p>
          <a:p>
            <a:pPr>
              <a:spcAft>
                <a:spcPts val="600"/>
              </a:spcAft>
            </a:pPr>
            <a:r>
              <a:rPr lang="fr-FR" dirty="0"/>
              <a:t> </a:t>
            </a:r>
          </a:p>
        </p:txBody>
      </p:sp>
      <p:sp>
        <p:nvSpPr>
          <p:cNvPr id="14" name="Slide Number Placeholder 4" hidden="1">
            <a:extLst>
              <a:ext uri="{FF2B5EF4-FFF2-40B4-BE49-F238E27FC236}">
                <a16:creationId xmlns:a16="http://schemas.microsoft.com/office/drawing/2014/main" id="{19D491F9-53D8-9AFE-BE51-81616A2CDC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512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F094C-7111-CEA6-F18B-577BFF1A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 hidden="1">
            <a:extLst>
              <a:ext uri="{FF2B5EF4-FFF2-40B4-BE49-F238E27FC236}">
                <a16:creationId xmlns:a16="http://schemas.microsoft.com/office/drawing/2014/main" id="{0EF625D8-FDE7-7B4C-E6D4-AD77A95C078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4" name="Espace réservé du numéro de diapositive 3" hidden="1">
            <a:extLst>
              <a:ext uri="{FF2B5EF4-FFF2-40B4-BE49-F238E27FC236}">
                <a16:creationId xmlns:a16="http://schemas.microsoft.com/office/drawing/2014/main" id="{3D89A992-6690-FC44-F810-FED7F1D086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23</a:t>
            </a:fld>
            <a:endParaRPr lang="fr-FR"/>
          </a:p>
        </p:txBody>
      </p:sp>
      <p:sp>
        <p:nvSpPr>
          <p:cNvPr id="12" name="Date Placeholder 2" hidden="1">
            <a:extLst>
              <a:ext uri="{FF2B5EF4-FFF2-40B4-BE49-F238E27FC236}">
                <a16:creationId xmlns:a16="http://schemas.microsoft.com/office/drawing/2014/main" id="{190CC08D-C032-BFE3-3D3D-35326D0F760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16200000">
            <a:off x="-1221413" y="2778452"/>
            <a:ext cx="3341052" cy="91152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CH"/>
              <a:t>NAME EVENT / NAME PRESENTATION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EC85CC-4CF2-67D0-83D2-46FD0F73C91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7115989" y="1874064"/>
            <a:ext cx="3543260" cy="51276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Tomas Garate Anderegg </a:t>
            </a:r>
          </a:p>
          <a:p>
            <a:pPr>
              <a:spcAft>
                <a:spcPts val="600"/>
              </a:spcAft>
            </a:pPr>
            <a:r>
              <a:rPr lang="fr-FR" dirty="0"/>
              <a:t> </a:t>
            </a:r>
          </a:p>
        </p:txBody>
      </p:sp>
      <p:sp>
        <p:nvSpPr>
          <p:cNvPr id="14" name="Slide Number Placeholder 4" hidden="1">
            <a:extLst>
              <a:ext uri="{FF2B5EF4-FFF2-40B4-BE49-F238E27FC236}">
                <a16:creationId xmlns:a16="http://schemas.microsoft.com/office/drawing/2014/main" id="{20B2266C-EC41-2C1D-54BD-42F408ECC6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31238" y="195263"/>
            <a:ext cx="512762" cy="163552"/>
          </a:xfrm>
        </p:spPr>
        <p:txBody>
          <a:bodyPr/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23</a:t>
            </a:fld>
            <a:endParaRPr lang="fr-FR"/>
          </a:p>
        </p:txBody>
      </p:sp>
      <p:pic>
        <p:nvPicPr>
          <p:cNvPr id="6" name="Picture 5" descr="A graph of a graph of a number of different curves&#10;&#10;AI-generated content may be incorrect.">
            <a:extLst>
              <a:ext uri="{FF2B5EF4-FFF2-40B4-BE49-F238E27FC236}">
                <a16:creationId xmlns:a16="http://schemas.microsoft.com/office/drawing/2014/main" id="{D3B9407F-792F-043F-DAED-5F802C39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612" y="381150"/>
            <a:ext cx="5841600" cy="43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733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C127AB4946248A5685C1F92D54FFE" ma:contentTypeVersion="0" ma:contentTypeDescription="Crée un document." ma:contentTypeScope="" ma:versionID="ef3ff242486930b75c69099c0dd02c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8CE09B-89B1-4B5D-BED2-87C84F077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8A6C70-7FF5-480A-B09B-7D0A19B2F431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0</TotalTime>
  <Words>1540</Words>
  <Application>Microsoft Office PowerPoint</Application>
  <PresentationFormat>On-screen Show (16:9)</PresentationFormat>
  <Paragraphs>293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Franklin Gothic Demi Cond</vt:lpstr>
      <vt:lpstr>Wingdings</vt:lpstr>
      <vt:lpstr>Thème Office</vt:lpstr>
      <vt:lpstr>Simulation and implementation of a Wireless Power Module for dielectric elastomer actuator</vt:lpstr>
      <vt:lpstr>Table of Contents</vt:lpstr>
      <vt:lpstr>Objectives</vt:lpstr>
      <vt:lpstr>State of the Art</vt:lpstr>
      <vt:lpstr>Approach Taken</vt:lpstr>
      <vt:lpstr>Key Challenges &amp; Constraints </vt:lpstr>
      <vt:lpstr>Key Challenges &amp; Constraints: Choice of the frequency </vt:lpstr>
      <vt:lpstr>Key Challenges &amp; Constraints: Choice of the frequency -  finding the components </vt:lpstr>
      <vt:lpstr>Key Challenges &amp; Constraints: Choice of the frequency -  finding the components </vt:lpstr>
      <vt:lpstr>Key Challenges &amp; Constraints:  Choice of the frequency -  finding the components – finding the geometric values of L </vt:lpstr>
      <vt:lpstr>Results:  Coil design  </vt:lpstr>
      <vt:lpstr>Results: </vt:lpstr>
      <vt:lpstr>Results:  Simulation of the circuit with different values of K </vt:lpstr>
      <vt:lpstr>Results:  Simulation of the circuit with different values of K </vt:lpstr>
      <vt:lpstr>Results:  Simulation of the circuit with different values of K </vt:lpstr>
      <vt:lpstr>Results:  Simulation of the circuit with different values of K </vt:lpstr>
      <vt:lpstr>Results:  Simulation of the circuit with different values of K – Efficiency  </vt:lpstr>
      <vt:lpstr>What’s Next ?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Tomas Joaquin Garate Anderegg</cp:lastModifiedBy>
  <cp:revision>93</cp:revision>
  <dcterms:created xsi:type="dcterms:W3CDTF">2019-04-02T06:24:35Z</dcterms:created>
  <dcterms:modified xsi:type="dcterms:W3CDTF">2025-05-22T17:13:24Z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